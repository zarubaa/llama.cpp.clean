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566928"/>
            <a:ext cx="3035808" cy="310896"/>
          </a:xfrm>
          <a:prstGeom prst="roundRect">
            <a:avLst/>
          </a:prstGeom>
          <a:solidFill>
            <a:srgbClr val="514933"/>
          </a:solidFill>
          <a:ln w="12700">
            <a:solidFill>
              <a:srgbClr val="51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85216"/>
            <a:ext cx="29626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CODE + BRANCHES + BENCHMARK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llama.cpp MoE Offload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B942"/>
                </a:solidFill>
                <a:latin typeface="Microsoft YaHei"/>
              </a:rPr>
              <a:t>实验实现与分支尝试复盘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352"/>
            <a:ext cx="97840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DE5E8"/>
                </a:solidFill>
                <a:latin typeface="Microsoft YaHei"/>
              </a:rPr>
              <a:t>从共享 scratch、动态专家缓存，到准入策略、投机解码、MTP 与 DRAM 流式传输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13632"/>
            <a:ext cx="10716768" cy="1828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261104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79145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实验分支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10235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0714 / 0716 / 0719 / 0720 / 0724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4261104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79145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关键提交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10235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2026-07-16 至 2026-07-27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261104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D7EA6"/>
                </a:solidFill>
                <a:latin typeface="Microsoft YaHei"/>
              </a:rPr>
              <a:t>40 / 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79145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MoE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510235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Q4 基线 / MTP 变体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261104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7914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专家 /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1023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top-k =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0819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B7BD"/>
                </a:solidFill>
                <a:latin typeface="Microsoft YaHei"/>
              </a:rPr>
              <a:t>代码基线：upstream/master@cb489bc0f  ·  复盘日期：2026-07-27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仓库：/home/chaoyang.zhang/docker_workspace/projects/llama.cpp.clean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先给结论：基础架构成立，局部策略有效，跨 token 重叠尚未成立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81328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64008" cy="1737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1682496"/>
            <a:ext cx="804672" cy="310896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007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可保留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64208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52C"/>
                </a:solidFill>
                <a:latin typeface="Microsoft YaHei"/>
              </a:rPr>
              <a:t>共享 scratch + 全专家活动轴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94560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8737D"/>
                </a:solidFill>
                <a:latin typeface="Microsoft YaHei"/>
              </a:rPr>
              <a:t>让每层任意 256 个专家都可被当前 ubatch 消费；6 GiB 缓存下仍能把 ubatch 放到 1024。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81328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81328"/>
            <a:ext cx="64008" cy="17373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82496"/>
            <a:ext cx="804672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7007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已证实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1664208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52C"/>
                </a:solidFill>
                <a:latin typeface="Microsoft YaHei"/>
              </a:rPr>
              <a:t>大 ubatch + 频次准入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8737D"/>
                </a:solidFill>
                <a:latin typeface="Microsoft YaHei"/>
              </a:rPr>
              <a:t>ubatch 128→1024 使 6 GiB TTFT/token 降 54.8%；频次准入使前 8 个 decode token 的 miss 降 37.6%。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11880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611880"/>
            <a:ext cx="64008" cy="173736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" y="3813048"/>
            <a:ext cx="804672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31335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需重做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794760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52C"/>
                </a:solidFill>
                <a:latin typeface="Microsoft YaHei"/>
              </a:rPr>
              <a:t>n-gram 投机与 gate-only 流水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325112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8737D"/>
                </a:solidFill>
                <a:latin typeface="Microsoft YaHei"/>
              </a:rPr>
              <a:t>候选 token 放大专家 I/O；DRAM gate-only 流式在 64–1024 token 全部退化，P0 清理控制开销后仍退化。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11880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11880"/>
            <a:ext cx="64008" cy="173736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3813048"/>
            <a:ext cx="804672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3831335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待验证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794760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52C"/>
                </a:solidFill>
                <a:latin typeface="Microsoft YaHei"/>
              </a:rPr>
              <a:t>MTP offload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325112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8737D"/>
                </a:solidFill>
                <a:latin typeface="Microsoft YaHei"/>
              </a:rPr>
              <a:t>功能路径、MMQ 边界修复和分阶段指标已完成；但缺少同量化、同 prompt、同二进制的 no-MTP A/B。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最重要的工程判断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7712" y="5815584"/>
            <a:ext cx="9098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52C"/>
                </a:solidFill>
                <a:latin typeface="Microsoft YaHei"/>
              </a:rPr>
              <a:t>下一轮不应继续微调 gate-only 分组；应先建立 token 等价性门槛，再做完整 gate/up→activation→down 的 ready-set executor。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综合：539f4cbf4 / 8b4de7c0e / 94fdf126b / fde549896 / a03c4fa82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7EA6"/>
                </a:solidFill>
                <a:latin typeface="Microsoft YaHei"/>
              </a:rPr>
              <a:t>SCOPE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复盘口径：代码、提交和原始结果三方互证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08176"/>
            <a:ext cx="34198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08176"/>
            <a:ext cx="64008" cy="4526280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72768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阅读范围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2907792" cy="2487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5 条本地实验分支及其共同祖先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MoE offload 运行时、CUDA I/O、MMQ、repack/bench 工具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summary / CSV / log / RESULTS.md 与复现实验脚本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按提交父子关系区分共享实现与分支独有尝试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4800600"/>
            <a:ext cx="1170432" cy="310896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818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证据等级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4818888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同二进制开关或交替 A/B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5221224"/>
            <a:ext cx="429768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239512"/>
            <a:ext cx="356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5239512"/>
            <a:ext cx="2057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单点/矩阵，配置清楚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605272"/>
            <a:ext cx="429768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623559"/>
            <a:ext cx="356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5623560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探索性，缺少严格对照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1408176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408176"/>
            <a:ext cx="64008" cy="452628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1572768"/>
            <a:ext cx="2953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Q4 主实验平台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1938528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NVIDIA L20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246888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45,457 MiB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309067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D7EA6"/>
                </a:solidFill>
                <a:latin typeface="Microsoft YaHei"/>
              </a:rPr>
              <a:t>20.60 GiB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3621024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Qwen3.6-35B-A3B Q4_K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27024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40 × 256 ×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480060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MoE 层 × 专家 × 权重种类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5440680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主口径：pp1024 / tg1024 / greedy / cache reset；6 GiB 与 8 GiB 专家缓存。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46136" y="1408176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46136" y="1408176"/>
            <a:ext cx="64008" cy="452628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1572768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独立标注的例外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1938528"/>
            <a:ext cx="621792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956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MTP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19476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Q8_0 · 41 个 MoE 层 · blob max 1.06 MiB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4" y="2825496"/>
            <a:ext cx="621792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84378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上限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2816352"/>
            <a:ext cx="2103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llama-bench 全驻留结果仅作性能天花板，不与 moe-bench 视为严格 A/B。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4" y="3895344"/>
            <a:ext cx="804672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913631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正确性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6" y="3877056"/>
            <a:ext cx="1965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模式内 repeat 一致 ≠ baseline/spec token 等价；两者必须分别检查。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4" y="4983480"/>
            <a:ext cx="621792" cy="310896"/>
          </a:xfrm>
          <a:prstGeom prst="roundRect">
            <a:avLst/>
          </a:prstGeom>
          <a:solidFill>
            <a:srgbClr val="DFEAF2"/>
          </a:solidFill>
          <a:ln w="12700">
            <a:solidFill>
              <a:srgbClr val="DF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500176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D7EA6"/>
                </a:solidFill>
                <a:latin typeface="Microsoft YaHei"/>
              </a:rPr>
              <a:t>时间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96519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提交时间为 2026-07-16 至 07-27；结果按仓库内记录原样引用。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AGENTS.md；git log --all；models/*.moe.gguf.json；benchmark-results/**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BRANCH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分支演进不是一条直线：三条优化路线从共同核心分叉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737360" y="2286000"/>
            <a:ext cx="384048" cy="0"/>
          </a:xfrm>
          <a:prstGeom prst="line">
            <a:avLst/>
          </a:prstGeom>
          <a:ln w="1905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54680" y="2286000"/>
            <a:ext cx="557783" cy="0"/>
          </a:xfrm>
          <a:prstGeom prst="line">
            <a:avLst/>
          </a:prstGeom>
          <a:ln w="1905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45736" y="2286000"/>
            <a:ext cx="502920" cy="0"/>
          </a:xfrm>
          <a:prstGeom prst="line">
            <a:avLst/>
          </a:prstGeom>
          <a:ln w="1905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81928" y="2286000"/>
            <a:ext cx="429768" cy="0"/>
          </a:xfrm>
          <a:prstGeom prst="line">
            <a:avLst/>
          </a:prstGeom>
          <a:ln w="1905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1956816"/>
            <a:ext cx="105156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4825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6343D"/>
                </a:solidFill>
                <a:latin typeface="Aptos Mono"/>
              </a:rPr>
              <a:t>cb489bc0f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56816"/>
            <a:ext cx="105156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204825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共享框架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23317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0F8B8D"/>
                </a:solidFill>
                <a:latin typeface="Aptos Mono"/>
              </a:rPr>
              <a:t>539f4cbf4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5" y="1956816"/>
            <a:ext cx="105156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5" y="204825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频次准入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5" y="23317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E8B57"/>
                </a:solidFill>
                <a:latin typeface="Aptos Mono"/>
              </a:rPr>
              <a:t>8b4de7c0e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1956816"/>
            <a:ext cx="105156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204825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驱逐微调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3317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E8B57"/>
                </a:solidFill>
                <a:latin typeface="Aptos Mono"/>
              </a:rPr>
              <a:t>c09907bec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4848" y="1956816"/>
            <a:ext cx="105156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D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204825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4K 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23317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3D7EA6"/>
                </a:solidFill>
                <a:latin typeface="Aptos Mono"/>
              </a:rPr>
              <a:t>3821d9835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03320" y="2642616"/>
            <a:ext cx="2011680" cy="612648"/>
          </a:xfrm>
          <a:prstGeom prst="line">
            <a:avLst/>
          </a:prstGeom>
          <a:ln w="2159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852160" y="2642616"/>
            <a:ext cx="1453896" cy="1472184"/>
          </a:xfrm>
          <a:prstGeom prst="line">
            <a:avLst/>
          </a:prstGeom>
          <a:ln w="21590">
            <a:solidFill>
              <a:srgbClr val="7B5E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06056" y="2642616"/>
            <a:ext cx="740664" cy="612648"/>
          </a:xfrm>
          <a:prstGeom prst="line">
            <a:avLst/>
          </a:prstGeom>
          <a:ln w="21590">
            <a:solidFill>
              <a:srgbClr val="3D7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92440" y="3648456"/>
            <a:ext cx="1965960" cy="466344"/>
          </a:xfrm>
          <a:prstGeom prst="line">
            <a:avLst/>
          </a:prstGeom>
          <a:ln w="2159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743200" y="329184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3291840"/>
            <a:ext cx="64008" cy="105156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447288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1495B"/>
                </a:solidFill>
                <a:latin typeface="Microsoft YaHei"/>
              </a:rPr>
              <a:t>0719_speculative_decoding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822191"/>
            <a:ext cx="1536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8737D"/>
                </a:solidFill>
                <a:latin typeface="Microsoft YaHei"/>
              </a:rPr>
              <a:t>94fdf126b · n-gram 投机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4160520"/>
            <a:ext cx="20299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4160520"/>
            <a:ext cx="64008" cy="105156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3159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B5EA7"/>
                </a:solidFill>
                <a:latin typeface="Microsoft YaHei"/>
              </a:rPr>
              <a:t>0720_mtp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6908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8737D"/>
                </a:solidFill>
                <a:latin typeface="Microsoft YaHei"/>
              </a:rPr>
              <a:t>0edf6febc → 941f360ef → fde549896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80" y="329184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3291840"/>
            <a:ext cx="64008" cy="1051560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4472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D7EA6"/>
                </a:solidFill>
                <a:latin typeface="Microsoft YaHei"/>
              </a:rPr>
              <a:t>0716_eamc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822191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8737D"/>
                </a:solidFill>
                <a:latin typeface="Microsoft YaHei"/>
              </a:rPr>
              <a:t>4306ebc28 → 5dd375005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16052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4160520"/>
            <a:ext cx="64008" cy="105156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59" y="431596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942"/>
                </a:solidFill>
                <a:latin typeface="Microsoft YaHei"/>
              </a:rPr>
              <a:t>0724_transfer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59" y="4690872"/>
            <a:ext cx="1993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8737D"/>
                </a:solidFill>
                <a:latin typeface="Microsoft YaHei"/>
              </a:rPr>
              <a:t>2dcac38ea → a03c4fa82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" y="3611880"/>
            <a:ext cx="1389888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3630168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0714_ubatch_new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4023360"/>
            <a:ext cx="1691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8737D"/>
                </a:solidFill>
                <a:latin typeface="Microsoft YaHei"/>
              </a:rPr>
              <a:t>仅包含共同框架提交 539f4cbf4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7332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阅读原则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64208" y="5687568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D252C"/>
                </a:solidFill>
                <a:latin typeface="Microsoft YaHei"/>
              </a:rPr>
              <a:t>0719 与 0720 是互斥的投机路线；0724 继承 0716 的测量与准入改动，不继承 0719/0720。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git merge-base / git log：所有实验分支共同基线 master@cb489bc0f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PROBLEM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目标不是“让模型能跑”，而是在小显存预算下控制专家换入成本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89888"/>
            <a:ext cx="321868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89888"/>
            <a:ext cx="64008" cy="455371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原始约束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95681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20.60 GiB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Q4_K 模型文件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08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5EA7"/>
                </a:solidFill>
                <a:latin typeface="Microsoft YaHei"/>
              </a:rPr>
              <a:t>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6393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每层路由专家总数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261104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79145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每 token 实际激活专家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330952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0" b="0">
                <a:solidFill>
                  <a:srgbClr val="68737D"/>
                </a:solidFill>
                <a:latin typeface="Microsoft YaHei"/>
              </a:rPr>
              <a:t>专家权重占大头，但每个 token 只访问少量专家；这给“持久缓存 + 按需换入”留下空间。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389888"/>
            <a:ext cx="3438144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389888"/>
            <a:ext cx="64008" cy="455371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554480"/>
            <a:ext cx="3054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实验目标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975104"/>
            <a:ext cx="2852928" cy="2514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把专家权重从常规 loader 中截获</a:t>
            </a:r>
          </a:p>
          <a:p>
            <a:pPr>
              <a:lnSpc>
                <a:spcPct val="106000"/>
              </a:lnSpc>
              <a:spcAft>
                <a:spcPts val="8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用固定 VRAM budget 保存热点专家</a:t>
            </a:r>
          </a:p>
          <a:p>
            <a:pPr>
              <a:lnSpc>
                <a:spcPct val="106000"/>
              </a:lnSpc>
              <a:spcAft>
                <a:spcPts val="8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miss 时从 SSD/DRAM 读取并异步 H2D</a:t>
            </a:r>
          </a:p>
          <a:p>
            <a:pPr>
              <a:lnSpc>
                <a:spcPct val="106000"/>
              </a:lnSpc>
              <a:spcAft>
                <a:spcPts val="8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保持上游 ggml_mul_mat_id 单一 3D 权重接口</a:t>
            </a:r>
          </a:p>
          <a:p>
            <a:pPr>
              <a:lnSpc>
                <a:spcPct val="106000"/>
              </a:lnSpc>
              <a:spcAft>
                <a:spcPts val="800"/>
              </a:spcAft>
              <a:defRPr sz="13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量化 TTFT / TPOT / hit / bytes / stall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4846320"/>
            <a:ext cx="2816352" cy="713232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49743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核心设计取舍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4928616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D252C"/>
                </a:solidFill>
                <a:latin typeface="Microsoft YaHei"/>
              </a:rPr>
              <a:t>不改双源 CUDA kernel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7" y="1389888"/>
            <a:ext cx="358444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7" y="1389888"/>
            <a:ext cx="64008" cy="455371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554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观察到的交换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196596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9.74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496312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6 GiB 专家缓存时进程峰值估算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2186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26.90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749039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基线 offload TPOT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425696"/>
            <a:ext cx="27614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158.95 tok/s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95604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全驻留 llama-bench decode 天花板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5431536"/>
            <a:ext cx="2798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252C"/>
                </a:solidFill>
                <a:latin typeface="Microsoft YaHei"/>
              </a:rPr>
              <a:t>结论：容量目标已达到，但性能主要受 callback、读盘/H2D 和小粒度同步支配。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models/Qwen3.6-35B-A3B-UD-Q4_K_M.moe.gguf.json；new-result/non-offload-single-gpu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BASE IMPLEMENTATION · REPACK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离线重排建立了运行时可随机访问的专家索引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847088"/>
            <a:ext cx="1883664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847088"/>
            <a:ext cx="64008" cy="1572768"/>
          </a:xfrm>
          <a:prstGeom prst="rect">
            <a:avLst/>
          </a:prstGeom>
          <a:solidFill>
            <a:srgbClr val="26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84831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6343D"/>
                </a:solidFill>
                <a:latin typeface="Microsoft YaHei"/>
              </a:rPr>
              <a:t>原始 GGUF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42032"/>
            <a:ext cx="14813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8737D"/>
                </a:solidFill>
                <a:latin typeface="Microsoft YaHei"/>
              </a:rPr>
              <a:t>融合 expert tensor</a:t>
            </a:r>
            <a:br/>
            <a:r>
              <a:t>[dim0, dim1, 256]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24912" y="2633472"/>
            <a:ext cx="310896" cy="0"/>
          </a:xfrm>
          <a:prstGeom prst="line">
            <a:avLst/>
          </a:prstGeom>
          <a:ln w="2032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27248" y="1847088"/>
            <a:ext cx="1883664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7248" y="1847088"/>
            <a:ext cx="64008" cy="157276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2084831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8B8D"/>
                </a:solidFill>
                <a:latin typeface="Microsoft YaHei"/>
              </a:rPr>
              <a:t>llama-moe-repack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542032"/>
            <a:ext cx="14813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8737D"/>
                </a:solidFill>
                <a:latin typeface="Microsoft YaHei"/>
              </a:rPr>
              <a:t>扫描 MoE tensor</a:t>
            </a:r>
            <a:br/>
            <a:r>
              <a:t>计算每专家 byte range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02352" y="2633472"/>
            <a:ext cx="704088" cy="0"/>
          </a:xfrm>
          <a:prstGeom prst="line">
            <a:avLst/>
          </a:prstGeom>
          <a:ln w="2032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97880" y="1847088"/>
            <a:ext cx="1883664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847088"/>
            <a:ext cx="64008" cy="1572768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2084831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7EA6"/>
                </a:solidFill>
                <a:latin typeface="Microsoft YaHei"/>
              </a:rPr>
              <a:t>v2 元数据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542032"/>
            <a:ext cx="14813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8737D"/>
                </a:solidFill>
                <a:latin typeface="Microsoft YaHei"/>
              </a:rPr>
              <a:t>layer_ids / n_experts</a:t>
            </a:r>
            <a:br/>
            <a:r>
              <a:t>blob.table[offset,size]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2983" y="2633472"/>
            <a:ext cx="612649" cy="0"/>
          </a:xfrm>
          <a:prstGeom prst="line">
            <a:avLst/>
          </a:prstGeom>
          <a:ln w="2032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77072" y="1847088"/>
            <a:ext cx="1883664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7072" y="1847088"/>
            <a:ext cx="64008" cy="157276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084831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8B57"/>
                </a:solidFill>
                <a:latin typeface="Microsoft YaHei"/>
              </a:rPr>
              <a:t>运行时 loader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542032"/>
            <a:ext cx="14813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8737D"/>
                </a:solidFill>
                <a:latin typeface="Microsoft YaHei"/>
              </a:rPr>
              <a:t>inspect manifest</a:t>
            </a:r>
            <a:br/>
            <a:r>
              <a:t>按 (L,E,kind) 定位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968496"/>
            <a:ext cx="671169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3968496"/>
            <a:ext cx="64008" cy="157276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133087"/>
            <a:ext cx="6327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运行时契约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462272"/>
            <a:ext cx="6108192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15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元数据：moe_offload.version=2，40 层，256 experts/layer，max blob=860,160 B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15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原专家 tensor 被 mark_tensor_unloaded；loader 创建无文件 backing 的 GPU slot tensor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15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同一 kind 在不同层可能是不同量化类型，因此按 (kind, dtype) 分配 global tensor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4968" y="3968496"/>
            <a:ext cx="37033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4968" y="3968496"/>
            <a:ext cx="64008" cy="157276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4133087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代码层面的边界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480560"/>
            <a:ext cx="31546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52C"/>
                </a:solidFill>
                <a:latin typeface="Microsoft YaHei"/>
              </a:rPr>
              <a:t>layout 名称含 page-aligned，但工具中的 --alignment 当前没有真正改写 gguf ctx alignment；正确性依赖表内真实 offset/size，而不是假定 4 KiB 对齐。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539f4cbf4 · tools/moe-repack/main.cpp · src/moe-offload/loader.cpp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BASE IMPLEMENTATION ·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共享 scratch 把“缓存容量”与“当前层可见专家轴”解耦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8B8D"/>
                </a:solidFill>
                <a:latin typeface="Microsoft YaHei"/>
              </a:rPr>
              <a:t>6 GiB Q4 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4248" y="1399032"/>
            <a:ext cx="1572768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0824" y="141732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60 persistent /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1399032"/>
            <a:ext cx="1417320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1417320"/>
            <a:ext cx="13441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196 shared scratch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0368" y="1399032"/>
            <a:ext cx="1152144" cy="310896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14173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active = 256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2011680"/>
            <a:ext cx="1353312" cy="804672"/>
          </a:xfrm>
          <a:prstGeom prst="rect">
            <a:avLst/>
          </a:prstGeom>
          <a:solidFill>
            <a:srgbClr val="D9EEE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4884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8B8D"/>
                </a:solidFill>
                <a:latin typeface="Microsoft YaHei"/>
              </a:rPr>
              <a:t>L0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41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8737D"/>
                </a:solidFill>
                <a:latin typeface="Microsoft YaHei"/>
              </a:rPr>
              <a:t>60 slots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7984" y="2011680"/>
            <a:ext cx="1353312" cy="804672"/>
          </a:xfrm>
          <a:prstGeom prst="rect">
            <a:avLst/>
          </a:prstGeom>
          <a:solidFill>
            <a:srgbClr val="D9EEE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57984" y="214884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8B8D"/>
                </a:solidFill>
                <a:latin typeface="Microsoft YaHei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2441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8737D"/>
                </a:solidFill>
                <a:latin typeface="Microsoft YaHei"/>
              </a:rPr>
              <a:t>60 slots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47872" y="2011680"/>
            <a:ext cx="1353312" cy="804672"/>
          </a:xfrm>
          <a:prstGeom prst="rect">
            <a:avLst/>
          </a:prstGeom>
          <a:solidFill>
            <a:srgbClr val="D9EEE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14884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8B8D"/>
                </a:solidFill>
                <a:latin typeface="Microsoft YaHei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441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8737D"/>
                </a:solidFill>
                <a:latin typeface="Microsoft YaHei"/>
              </a:rPr>
              <a:t>60 slots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011680"/>
            <a:ext cx="1353312" cy="804672"/>
          </a:xfrm>
          <a:prstGeom prst="rect">
            <a:avLst/>
          </a:prstGeom>
          <a:solidFill>
            <a:srgbClr val="D9EEE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14884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8B8D"/>
                </a:solidFill>
                <a:latin typeface="Microsoft YaHei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41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8737D"/>
                </a:solidFill>
                <a:latin typeface="Microsoft YaHei"/>
              </a:rPr>
              <a:t>60 slots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011680"/>
            <a:ext cx="1353312" cy="804672"/>
          </a:xfrm>
          <a:prstGeom prst="rect">
            <a:avLst/>
          </a:prstGeom>
          <a:solidFill>
            <a:srgbClr val="E7F0F0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214884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9EEEE"/>
                </a:solidFill>
                <a:latin typeface="Microsoft YaHei"/>
              </a:rPr>
              <a:t>… L39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441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8737D"/>
                </a:solidFill>
                <a:latin typeface="Microsoft YaHei"/>
              </a:rPr>
              <a:t>60 slots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7536" y="2011680"/>
            <a:ext cx="2971800" cy="804672"/>
          </a:xfrm>
          <a:prstGeom prst="rect">
            <a:avLst/>
          </a:prstGeom>
          <a:solidFill>
            <a:srgbClr val="FCEEC6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7536" y="227685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B942"/>
                </a:solidFill>
                <a:latin typeface="Microsoft YaHei"/>
              </a:rPr>
              <a:t>shared scratch · 196 slots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017520"/>
            <a:ext cx="4773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52C"/>
                </a:solidFill>
                <a:latin typeface="Microsoft YaHei"/>
              </a:rPr>
              <a:t>global expert axis = 40×60 + 196 = 2,596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3026664"/>
            <a:ext cx="38404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8737D"/>
                </a:solidFill>
                <a:latin typeface="Microsoft YaHei"/>
              </a:rPr>
              <a:t>每个 kind/dtype 各有一条同构 expert 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3675887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" y="3675887"/>
            <a:ext cx="64008" cy="19202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840479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命中映射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31596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8B8D"/>
                </a:solidFill>
                <a:latin typeface="Aptos Mono"/>
              </a:rPr>
              <a:t>global_slot = layer × 60 + local_slot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818888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跨 callback 保留；由 LRU/EAMC 管理。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4256" y="3675887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34256" y="3675887"/>
            <a:ext cx="64008" cy="19202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3840479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未命中映射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31596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B942"/>
                </a:solidFill>
                <a:latin typeface="Aptos Mono"/>
              </a:rPr>
              <a:t>scratch_slot = 2,400 +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818888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只在当前 layer callback 生效；不写入持久 cache。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0416" y="3675887"/>
            <a:ext cx="352958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00416" y="3675887"/>
            <a:ext cx="64008" cy="19202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8" y="3840479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ubatch 关键含义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4297680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Aptos Mono"/>
              </a:rPr>
              <a:t>active_slots = experts = 256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4754880"/>
            <a:ext cx="28529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D252C"/>
                </a:solidFill>
                <a:latin typeface="Microsoft YaHei"/>
              </a:rPr>
              <a:t>unique experts 不会超过 256，因此 MoE 层本身无需再按 active/top-k 限制 ubatch。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539f4cbf4 · docs/moe-offload-shared-scratch.md · slot_pool.cpp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BASE IMPLEMENTATION ·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每层 callback 是 offload 的控制面：先路由，再让权重就绪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609344"/>
            <a:ext cx="384048" cy="384048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45920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600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GPU Top-k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1226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产生 [top_k, tokens] ids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1810512"/>
            <a:ext cx="237744" cy="0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569464" y="1609344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1645920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600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D2H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4" y="211226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读取 ids，统计 unique / route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1810512"/>
            <a:ext cx="237744" cy="0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71416" y="1609344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645920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1600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11226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hit / free / victim / scratch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1810512"/>
            <a:ext cx="237744" cy="0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373368" y="1609344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645920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4" y="1600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I/O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11226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file→pinned→H2D event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64424" y="1810512"/>
            <a:ext cx="237744" cy="0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75320" y="1609344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645920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1600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Remap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1226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写 slot_ids 给 MUL_MAT_ID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66376" y="1810512"/>
            <a:ext cx="237744" cy="0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177272" y="1609344"/>
            <a:ext cx="384048" cy="38404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7272" y="1645920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71048" y="1600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Compute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11226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compute stream 等待后执行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3182112"/>
            <a:ext cx="5166360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3182112"/>
            <a:ext cx="64008" cy="2432304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346704"/>
            <a:ext cx="4782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正确性不变量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694176"/>
            <a:ext cx="4553712" cy="1600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当前 call 的所有 unique expert 都必须被保护，不能互相驱逐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H2D 完成事件必须进入 compute stream 的依赖链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slot tensor 未使用区域先清零，避免量化 MMQ 访问垃圾数据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同一层 unique 数超过 active axis 时立即 abort，不静默错算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182112"/>
            <a:ext cx="5248656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182112"/>
            <a:ext cx="64008" cy="24323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3346704"/>
            <a:ext cx="4864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异步实现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3694176"/>
            <a:ext cx="4636008" cy="1600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固定 pinned buffer pool + 单 worker；请求按 file offset 排序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H2D 使用独立 CUDA stream；event 被 profile row 与 buffer 生命周期共同追踪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提交/回收分块进行，不要求一层全部 miss 同时占用 pinned buffer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4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3D7EA6"/>
                </a:solidFill>
              </a:rPr>
              <a:t>•  请求结束补齐最后层事件并输出 CSV/summary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539f4cbf4 · src/moe-offload/slot_pool.cpp · io.cpp · moe_offload_io.cu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7EA6"/>
                </a:solidFill>
                <a:latin typeface="Microsoft YaHei"/>
              </a:rPr>
              <a:t>PREDICTOR &amp;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LRU 与 EAMC 共用准入/驱逐接口，但 EAMC 本体没有被单独证实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26464"/>
            <a:ext cx="331012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4008" cy="44074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LRU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56816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touch / resident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054096"/>
            <a:ext cx="269748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2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每层独立 slot_to_expert / exp2slot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2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MRU 在链表头，victim 从尾部选择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22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predictor score 平局时显式按 LRU 尾部稳定决策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5010912"/>
            <a:ext cx="26791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D252C"/>
                </a:solidFill>
                <a:latin typeface="Microsoft YaHei"/>
              </a:rPr>
              <a:t>正式性能矩阵与 Phase A 报告均使用 predictor=lru。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26464"/>
            <a:ext cx="3511296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26464"/>
            <a:ext cx="64008" cy="440740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591056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EAMC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5681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5EA7"/>
                </a:solidFill>
                <a:latin typeface="Microsoft YaHei"/>
              </a:rPr>
              <a:t>EAM1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8716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持久化 sidecar 格式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054096"/>
            <a:ext cx="2852928" cy="1627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按 request 保存稀疏 layer×expert 计数行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用已观察层前缀余弦找历史近邻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对目标层专家做相似度加权评分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可限制有效 corpus rows；保存/加载带形状校验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501091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1D252C"/>
                </a:solidFill>
                <a:latin typeface="Microsoft YaHei"/>
              </a:rPr>
              <a:t>风险：评分与 sidecar 成本有 profiler 字段，但仓库内没有 EAMC vs LRU 的隔离 A/B。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26464"/>
            <a:ext cx="338328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26464"/>
            <a:ext cx="64008" cy="440740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591056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测量面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48256"/>
            <a:ext cx="2779776" cy="22677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F4B942"/>
                </a:solidFill>
              </a:rPr>
              <a:t>•  层级：required / hit / miss / route coverage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F4B942"/>
                </a:solidFill>
              </a:rPr>
              <a:t>•  I/O：read / H2D / stall / bytes / reads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F4B942"/>
                </a:solidFill>
              </a:rPr>
              <a:t>•  控制：topk D2H / remap H2D / callback wall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F4B942"/>
                </a:solidFill>
              </a:rPr>
              <a:t>•  请求：TTFT / TPOT / total / VRAM / DRAM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20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F4B942"/>
                </a:solidFill>
              </a:rPr>
              <a:t>•  后续分支增加 candidate-only 与 prefill 子阶段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4791456"/>
            <a:ext cx="2770632" cy="694944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49651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D1495B"/>
                </a:solidFill>
                <a:latin typeface="Microsoft YaHei"/>
              </a:rPr>
              <a:t>branch 名称 ≠ 已验证变量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539f4cbf4 / 8b4de7c0e · predictor.cpp · profiler.cpp · Phase A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MEASUREMENT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哪些数字可以下结论，哪些只能当线索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517904"/>
            <a:ext cx="757955" cy="50901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36192"/>
            <a:ext cx="666515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7763" y="1517904"/>
            <a:ext cx="2374926" cy="50901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3483" y="1536192"/>
            <a:ext cx="2283486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2689" y="1517904"/>
            <a:ext cx="4396140" cy="50901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8409" y="1536192"/>
            <a:ext cx="4304700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控制方式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8830" y="1517904"/>
            <a:ext cx="3132881" cy="50901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4550" y="1536192"/>
            <a:ext cx="3041441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本复盘用途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026920"/>
            <a:ext cx="757955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45208"/>
            <a:ext cx="666515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7763" y="2026920"/>
            <a:ext cx="2374926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3483" y="2045208"/>
            <a:ext cx="2283486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频次准入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2689" y="2026920"/>
            <a:ext cx="4396140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28409" y="2045208"/>
            <a:ext cx="4304700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old/new 二进制；同 GPU/model/page cache；重复确定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8830" y="2026920"/>
            <a:ext cx="3132881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4550" y="2045208"/>
            <a:ext cx="3041441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可下因果结论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535936"/>
            <a:ext cx="757955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2554224"/>
            <a:ext cx="666515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7763" y="2535936"/>
            <a:ext cx="2374926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3483" y="2554224"/>
            <a:ext cx="2283486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DRAM stream / P0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2689" y="2535936"/>
            <a:ext cx="4396140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28409" y="2554224"/>
            <a:ext cx="4304700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同最终二进制，环境变量开关；3 次 cold repeat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8830" y="2535936"/>
            <a:ext cx="3132881" cy="50901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4550" y="2554224"/>
            <a:ext cx="3041441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可判定退化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44952"/>
            <a:ext cx="757955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3063240"/>
            <a:ext cx="666515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A-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7763" y="3044952"/>
            <a:ext cx="2374926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3483" y="3063240"/>
            <a:ext cx="2283486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ub512 vs 1024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2689" y="3044952"/>
            <a:ext cx="4396140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8409" y="3063240"/>
            <a:ext cx="4304700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交替顺序 512/1024；各 4 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8830" y="3044952"/>
            <a:ext cx="3132881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4550" y="3063240"/>
            <a:ext cx="3041441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可判断自然 prompt 趋势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553968"/>
            <a:ext cx="757955" cy="50901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3572256"/>
            <a:ext cx="666515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07763" y="3553968"/>
            <a:ext cx="2374926" cy="50901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53483" y="3572256"/>
            <a:ext cx="2283486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0714 ub / cache matrix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2689" y="3553968"/>
            <a:ext cx="4396140" cy="50901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28409" y="3572256"/>
            <a:ext cx="4304700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单次矩阵，配置和 profiler 完整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8830" y="3553968"/>
            <a:ext cx="3132881" cy="50901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4550" y="3572256"/>
            <a:ext cx="3041441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可看结构性趋势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062984"/>
            <a:ext cx="757955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4081271"/>
            <a:ext cx="666515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07763" y="4062984"/>
            <a:ext cx="2374926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3483" y="4081271"/>
            <a:ext cx="2283486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MTP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2689" y="4062984"/>
            <a:ext cx="4396140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28409" y="4081271"/>
            <a:ext cx="4304700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单次；Q8；无同构 no-MTP 汇总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8830" y="4062984"/>
            <a:ext cx="3132881" cy="50901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4550" y="4081271"/>
            <a:ext cx="3041441" cy="472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只报告功能与现象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8" y="4846320"/>
            <a:ext cx="5120640" cy="960120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808" y="4846320"/>
            <a:ext cx="64008" cy="96012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" y="506577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0719 的早期误导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4992624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>
                <a:solidFill>
                  <a:srgbClr val="1D252C"/>
                </a:solidFill>
                <a:latin typeface="Microsoft YaHei"/>
              </a:rPr>
              <a:t>初版 baseline 受可见 GPU / VRAM 口径干扰；最终 3-repeat baseline 把 TPOT 从 42.04 修正到约 26 ms。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08192" y="4846320"/>
            <a:ext cx="5303520" cy="960120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08192" y="4846320"/>
            <a:ext cx="64008" cy="96012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06577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B942"/>
                </a:solidFill>
                <a:latin typeface="Microsoft YaHei"/>
              </a:rPr>
              <a:t>正确性门槛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16368" y="4992624"/>
            <a:ext cx="35295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>
                <a:solidFill>
                  <a:srgbClr val="1D252C"/>
                </a:solidFill>
                <a:latin typeface="Microsoft YaHei"/>
              </a:rPr>
              <a:t>generation hash 只证明同一模式的 repeat 一致；必须再比较 baseline 与优化模式的 token 序列。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phase-a-report.md；prefill-expert-stream-*/RESULTS.md；0719 final summaries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0714_UBATCH_NEW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0714：全活动轴释放了大 ubatch，prefill 成为首个明确收益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80744"/>
            <a:ext cx="2706624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99032"/>
            <a:ext cx="2633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6 GiB cache · pp1024/tg1024 · Q4_K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4608576"/>
            <a:ext cx="5907024" cy="0"/>
          </a:xfrm>
          <a:prstGeom prst="line">
            <a:avLst/>
          </a:prstGeom>
          <a:ln w="1270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776222" y="3950253"/>
            <a:ext cx="310896" cy="65832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9062" y="3739941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8B8D"/>
                </a:solidFill>
                <a:latin typeface="Microsoft YaHei"/>
              </a:rPr>
              <a:t>8.5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2838" y="2332817"/>
            <a:ext cx="310896" cy="2275758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5678" y="2122505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D7EA6"/>
                </a:solidFill>
                <a:latin typeface="Microsoft YaHei"/>
              </a:rPr>
              <a:t>29.3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81728"/>
            <a:ext cx="14767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252C"/>
                </a:solidFill>
                <a:latin typeface="Microsoft YaHei"/>
              </a:rPr>
              <a:t>ub128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2978" y="4094043"/>
            <a:ext cx="310896" cy="51453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5818" y="3883731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8B8D"/>
                </a:solidFill>
                <a:latin typeface="Microsoft YaHei"/>
              </a:rPr>
              <a:t>6.6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9594" y="2329708"/>
            <a:ext cx="310896" cy="2278867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2434" y="2119396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D7EA6"/>
                </a:solidFill>
                <a:latin typeface="Microsoft YaHei"/>
              </a:rPr>
              <a:t>29.3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8356" y="4681728"/>
            <a:ext cx="14767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252C"/>
                </a:solidFill>
                <a:latin typeface="Microsoft YaHei"/>
              </a:rPr>
              <a:t>ub256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9734" y="4166326"/>
            <a:ext cx="310896" cy="442249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2574" y="3956014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8B8D"/>
                </a:solidFill>
                <a:latin typeface="Microsoft YaHei"/>
              </a:rPr>
              <a:t>5.7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6350" y="2345253"/>
            <a:ext cx="310896" cy="2263322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9190" y="2134941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D7EA6"/>
                </a:solidFill>
                <a:latin typeface="Microsoft YaHei"/>
              </a:rPr>
              <a:t>29.1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681728"/>
            <a:ext cx="14767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252C"/>
                </a:solidFill>
                <a:latin typeface="Microsoft YaHei"/>
              </a:rPr>
              <a:t>ub512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6490" y="4310893"/>
            <a:ext cx="310896" cy="29768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69329" y="4100581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8B8D"/>
                </a:solidFill>
                <a:latin typeface="Microsoft YaHei"/>
              </a:rPr>
              <a:t>3.8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3105" y="2517800"/>
            <a:ext cx="310896" cy="2090775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5945" y="2307488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D7EA6"/>
                </a:solidFill>
                <a:latin typeface="Microsoft YaHei"/>
              </a:rPr>
              <a:t>26.9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1868" y="4681728"/>
            <a:ext cx="14767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252C"/>
                </a:solidFill>
                <a:latin typeface="Microsoft YaHei"/>
              </a:rPr>
              <a:t>ub1024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1847088"/>
            <a:ext cx="109728" cy="109728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1810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prefill ms/token</a:t>
            </a:r>
          </a:p>
        </p:txBody>
      </p:sp>
      <p:sp>
        <p:nvSpPr>
          <p:cNvPr id="30" name="Oval 29"/>
          <p:cNvSpPr/>
          <p:nvPr/>
        </p:nvSpPr>
        <p:spPr>
          <a:xfrm>
            <a:off x="2880360" y="1847088"/>
            <a:ext cx="109728" cy="109728"/>
          </a:xfrm>
          <a:prstGeom prst="ellipse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5808" y="1810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decode ms/token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35824" y="1389888"/>
            <a:ext cx="3675887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35824" y="1389888"/>
            <a:ext cx="64008" cy="442569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1554480"/>
            <a:ext cx="32918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从 ub128 到 ub1024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199339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-54.8%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5237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prefill ms/token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28346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8.47 → 3.83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199339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-18.6%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252374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端到端总时长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28346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38.66s → 31.47s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3300984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+0.82 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3831335"/>
            <a:ext cx="17739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进程峰值估算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4142232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8.92 → 9.74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8" y="3300984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42.7% → 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9488" y="3831335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prefill unique hit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41422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一次大 batch 仍更快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4663440"/>
            <a:ext cx="4937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8B8D"/>
                </a:solidFill>
                <a:latin typeface="Microsoft YaHei"/>
              </a:rPr>
              <a:t>解释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590288"/>
            <a:ext cx="2359152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52C"/>
                </a:solidFill>
                <a:latin typeface="Microsoft YaHei"/>
              </a:rPr>
              <a:t>共享 scratch 保证 256 专家轴完整；更少的图构建/callback 与更大的矩阵并行度，压过了 prefill cache hit 下降。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797296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8737D"/>
                </a:solidFill>
                <a:latin typeface="Microsoft YaHei"/>
              </a:rPr>
              <a:t>注意：这是单次矩阵（证据 B）；后续自然 prompt 交替复测确认方向。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0714_ubatch_new@539f4cbf4 · combined-axis.../vram-6000/*summary.txt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CACHE BUDGET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0714：增加 2 GiB 专家缓存，decode I/O 明显下降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990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8737D"/>
                </a:solidFill>
                <a:latin typeface="Microsoft YaHei"/>
              </a:rPr>
              <a:t>同为 ub1024 / pp1024 / tg1024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73936"/>
            <a:ext cx="1218503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92224"/>
            <a:ext cx="112706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专家缓存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8311" y="1773936"/>
            <a:ext cx="1675442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4031" y="1792224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persistent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3753" y="1773936"/>
            <a:ext cx="1573900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9473" y="1792224"/>
            <a:ext cx="14824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进程峰值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7653" y="1773936"/>
            <a:ext cx="1675442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3373" y="1792224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decode TPOT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3095" y="1773936"/>
            <a:ext cx="1370816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8815" y="1792224"/>
            <a:ext cx="1279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decode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3911" y="1773936"/>
            <a:ext cx="1675442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9631" y="1792224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SSD / 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39353" y="1773936"/>
            <a:ext cx="1472358" cy="47548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5073" y="1792224"/>
            <a:ext cx="138091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总时长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2249424"/>
            <a:ext cx="1218503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267712"/>
            <a:ext cx="112706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6 GiB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8311" y="2249424"/>
            <a:ext cx="1675442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4031" y="2267712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60 /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43753" y="2249424"/>
            <a:ext cx="15739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9473" y="2267712"/>
            <a:ext cx="14824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9.74 GB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7653" y="2249424"/>
            <a:ext cx="1675442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3373" y="2267712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26.90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93095" y="2249424"/>
            <a:ext cx="1370816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8815" y="2267712"/>
            <a:ext cx="1279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92.6%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3911" y="2249424"/>
            <a:ext cx="1675442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9631" y="2267712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43.08 MiB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39353" y="2249424"/>
            <a:ext cx="147235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073" y="2267712"/>
            <a:ext cx="138091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31.47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2724912"/>
            <a:ext cx="1218503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2743200"/>
            <a:ext cx="112706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8 GiB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8311" y="2724912"/>
            <a:ext cx="1675442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4031" y="2743200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81 / layer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43753" y="2724912"/>
            <a:ext cx="1573900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9473" y="2743200"/>
            <a:ext cx="14824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11.85 GB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7653" y="2724912"/>
            <a:ext cx="1675442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63373" y="2743200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22.11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93095" y="2724912"/>
            <a:ext cx="1370816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38815" y="2743200"/>
            <a:ext cx="1279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95.0%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63911" y="2724912"/>
            <a:ext cx="1675442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9631" y="2743200"/>
            <a:ext cx="158400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29.26 MiB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39353" y="2724912"/>
            <a:ext cx="1472358" cy="47548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85073" y="2743200"/>
            <a:ext cx="138091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27.13 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" y="3602736"/>
            <a:ext cx="327355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9808" y="3602736"/>
            <a:ext cx="64008" cy="197510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376732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换来的收益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206240"/>
            <a:ext cx="1307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-17.8%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4736592"/>
            <a:ext cx="1307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decode TPOT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0474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26.90 → 22.11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32304" y="4206240"/>
            <a:ext cx="1307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-32.1%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32304" y="4736592"/>
            <a:ext cx="1307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SSD bytes/token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32304" y="50474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43.08 → 29.26 MiB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79392" y="3602736"/>
            <a:ext cx="327355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79392" y="3602736"/>
            <a:ext cx="64008" cy="1975104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9704" y="376732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付出的代价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53712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+2.11 GB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53712" y="473659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进程峰值估算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50474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9.74 → 11.85 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0176" y="42062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+14.6%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0176" y="473659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单次 TTFT/token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0176" y="50474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3.83 → 4.39 ms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08975" y="3602736"/>
            <a:ext cx="3602736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08975" y="3602736"/>
            <a:ext cx="64008" cy="19751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9288" y="3767328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决策含义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01583" y="4270248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52C"/>
                </a:solidFill>
                <a:latin typeface="Microsoft YaHei"/>
              </a:rPr>
              <a:t>如果目标是长输出，缓存预算优先影响 decode：2 GiB 换来 13.8% 端到端缩短。若目标是短 prompt-only，必须单独复测 TTFT。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0714_ubatch_new@539f4cbf4 · vram-6000 / vram-8000 ub1024 summaries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0716_EAMC · PHASE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0716：把“先看到谁”改成“谁覆盖更多路由”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71600"/>
            <a:ext cx="1773936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正式实验 predictor = LRU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399032"/>
            <a:ext cx="5998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8737D"/>
                </a:solidFill>
                <a:latin typeface="Microsoft YaHei"/>
              </a:rPr>
              <a:t>因此本页验证的是 admission/tie-break，不是 EAMC 相似度预测本身。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965960"/>
            <a:ext cx="162763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965960"/>
            <a:ext cx="64008" cy="122529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3D7EA6"/>
                </a:solidFill>
                <a:latin typeface="Microsoft YaHei"/>
              </a:rPr>
              <a:t>原始 top-k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8737D"/>
                </a:solidFill>
                <a:latin typeface="Microsoft YaHei"/>
              </a:rPr>
              <a:t>保留重复次数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560320"/>
            <a:ext cx="347472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43784" y="1965960"/>
            <a:ext cx="162763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1965960"/>
            <a:ext cx="64008" cy="122529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219456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E8B57"/>
                </a:solidFill>
                <a:latin typeface="Microsoft YaHei"/>
              </a:rPr>
              <a:t>稳定排序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8737D"/>
                </a:solidFill>
                <a:latin typeface="Microsoft YaHei"/>
              </a:rPr>
              <a:t>count↓ → first↑ → id↑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17136" y="2560320"/>
            <a:ext cx="566928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38928" y="1965960"/>
            <a:ext cx="162763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8928" y="1965960"/>
            <a:ext cx="64008" cy="122529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19456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8B8D"/>
                </a:solidFill>
                <a:latin typeface="Microsoft YaHei"/>
              </a:rPr>
              <a:t>准入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8737D"/>
                </a:solidFill>
                <a:latin typeface="Microsoft YaHei"/>
              </a:rPr>
              <a:t>热点 miss 先占空 slot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12280" y="2560320"/>
            <a:ext cx="548639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15783" y="1965960"/>
            <a:ext cx="162763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3" y="1965960"/>
            <a:ext cx="64008" cy="122529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5" y="219456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7B5EA7"/>
                </a:solidFill>
                <a:latin typeface="Microsoft YaHei"/>
              </a:rPr>
              <a:t>MRU 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8737D"/>
                </a:solidFill>
                <a:latin typeface="Microsoft YaHei"/>
              </a:rPr>
              <a:t>低频先 touch，高频最后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89136" y="2560320"/>
            <a:ext cx="502920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46920" y="1965960"/>
            <a:ext cx="162763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1965960"/>
            <a:ext cx="64008" cy="122529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2" y="219456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4B942"/>
                </a:solidFill>
                <a:latin typeface="Microsoft YaHei"/>
              </a:rPr>
              <a:t>驱逐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8737D"/>
                </a:solidFill>
                <a:latin typeface="Microsoft YaHei"/>
              </a:rPr>
              <a:t>score 平局从 LRU 尾部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" y="3675887"/>
            <a:ext cx="508406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64008" cy="18105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3840479"/>
            <a:ext cx="4700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为什么只改善冷启动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" y="4261104"/>
            <a:ext cx="449884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1D252C"/>
                </a:solidFill>
                <a:latin typeface="Microsoft YaHei"/>
              </a:rPr>
              <a:t>原策略在空 cache 时按 unordered_set / 首遇顺序填满 60 个 slot，可能把低覆盖专家留在持久区。频次排序修复的是初始 cache 形状；稳态路由序列不变，因此 128 token 后几乎重合。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675887"/>
            <a:ext cx="528523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675887"/>
            <a:ext cx="64008" cy="1810512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3840479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新增可观测性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61104"/>
            <a:ext cx="468172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1D252C"/>
                </a:solidFill>
                <a:latin typeface="Microsoft YaHei"/>
              </a:rPr>
              <a:t>routes_required / hit / persistent，empty/victim/scratch admission，以及 route_rank_us。它们把 unique-expert miss 与实际 token route coverage 分开，避免高频专家和低频专家被等权统计。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8b4de7c0e + c09907bec · admission.cpp · slot_pool.cpp · test-moe-admission.cpp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PHASE A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0716：收益集中在前 128 token，整体是“小而确定”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62456"/>
            <a:ext cx="3054096" cy="310896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07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pp1024/tg1024 · 6 GiB · ub1024 · 3 repeats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7451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1112 → 694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0487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前 8 token miss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-37.6%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74519"/>
            <a:ext cx="22677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24219 → 23738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0487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全 decode unique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15768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-1.99%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87451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D7EA6"/>
                </a:solidFill>
                <a:latin typeface="Microsoft YaHei"/>
              </a:rPr>
              <a:t>43.11 → 42.22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40487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SSD MiB /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7157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-2.06%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874519"/>
            <a:ext cx="1755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26.73 → 26.56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40487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TPOT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715768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-0.64%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874519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-0.88%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404872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端到端时间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1576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31.47s → 31.19s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291840"/>
            <a:ext cx="67665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291840"/>
            <a:ext cx="64008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456432"/>
            <a:ext cx="6382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decode 窗口 hit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40480"/>
            <a:ext cx="1511503" cy="2346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858768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窗口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7343" y="3840480"/>
            <a:ext cx="1615744" cy="2346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3063" y="3858768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旧策略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3087" y="3840480"/>
            <a:ext cx="1615744" cy="2346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8807" y="3858768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Phase 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48832" y="3840480"/>
            <a:ext cx="1511503" cy="2346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4552" y="3858768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变化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075176"/>
            <a:ext cx="1511503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093464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token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7343" y="4075176"/>
            <a:ext cx="1615744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3063" y="4093464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7.50%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33087" y="4075176"/>
            <a:ext cx="1615744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78807" y="4093464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89.69%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48832" y="4075176"/>
            <a:ext cx="1511503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94552" y="4093464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+82.19 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4309872"/>
            <a:ext cx="1511503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328160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1–7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7343" y="4309872"/>
            <a:ext cx="1615744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3063" y="4328160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63.57%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3087" y="4309872"/>
            <a:ext cx="1615744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8807" y="4328160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70.49%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48832" y="4309872"/>
            <a:ext cx="1511503" cy="2346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94552" y="4328160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+6.92 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" y="4544568"/>
            <a:ext cx="1511503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562856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8–31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7343" y="4544568"/>
            <a:ext cx="1615744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63063" y="4562856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77.58%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3087" y="4544568"/>
            <a:ext cx="1615744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78807" y="4562856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78.28%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48832" y="4544568"/>
            <a:ext cx="1511503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94552" y="4562856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+0.70 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4779264"/>
            <a:ext cx="1511503" cy="23469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4797551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32–127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17343" y="4779264"/>
            <a:ext cx="1615744" cy="23469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3063" y="4797551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81.73%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33087" y="4779264"/>
            <a:ext cx="1615744" cy="23469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78807" y="4797551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81.76%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48832" y="4779264"/>
            <a:ext cx="1511503" cy="234696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94552" y="4797551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+0.03 pp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5013960"/>
            <a:ext cx="1511503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60" y="5032248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128–1023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7343" y="5013960"/>
            <a:ext cx="1615744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63063" y="5032248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94.50%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33087" y="5013960"/>
            <a:ext cx="1615744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78807" y="5032248"/>
            <a:ext cx="1524304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94.50%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48832" y="5013960"/>
            <a:ext cx="1511503" cy="2346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94552" y="5032248"/>
            <a:ext cx="1420063" cy="198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81544" y="3291840"/>
            <a:ext cx="3630168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81544" y="3291840"/>
            <a:ext cx="64008" cy="221284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91856" y="345643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结论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3931920"/>
            <a:ext cx="30175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D252C"/>
                </a:solidFill>
                <a:latin typeface="Microsoft YaHei"/>
              </a:rPr>
              <a:t>这个方向值得合并进后续实验基线，但不值得继续围绕准入规则微调。下一阶收益必须来自 prefetch、跨层预测或更大的传输-计算重叠。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83296" y="50749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68737D"/>
                </a:solidFill>
                <a:latin typeface="Microsoft YaHei"/>
              </a:rPr>
              <a:t>验证：41,000 profile rows 全部满足 hit+miss=required 与 coverage 边界。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0716_eamc@5dd375005 · phase-a-report.md · early-decode-comparison.csv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7EA6"/>
                </a:solidFill>
                <a:latin typeface="Microsoft YaHei"/>
              </a:rPr>
              <a:t>EXTENDED UBATCH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0716：自然 prompt 与 4K prompt 复测后，ub1024 是更稳妥的整体点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5193792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64008" cy="442569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8097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自然 prompt：ub512 vs ub1024 交替复测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72768" y="3813048"/>
            <a:ext cx="3694176" cy="0"/>
          </a:xfrm>
          <a:prstGeom prst="line">
            <a:avLst/>
          </a:prstGeom>
          <a:ln w="1270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62556" y="3555067"/>
            <a:ext cx="310896" cy="257980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5395" y="3344755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D7EA6"/>
                </a:solidFill>
                <a:latin typeface="Microsoft YaHei"/>
              </a:rPr>
              <a:t>5.50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9172" y="2465361"/>
            <a:ext cx="310896" cy="134768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2012" y="2255049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8B8D"/>
                </a:solidFill>
                <a:latin typeface="Microsoft YaHei"/>
              </a:rPr>
              <a:t>28.76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886200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252C"/>
                </a:solidFill>
                <a:latin typeface="Microsoft YaHei"/>
              </a:rPr>
              <a:t>ub512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9644" y="3612146"/>
            <a:ext cx="310896" cy="200901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2483" y="3401834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D7EA6"/>
                </a:solidFill>
                <a:latin typeface="Microsoft YaHei"/>
              </a:rPr>
              <a:t>4.29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6259" y="2526096"/>
            <a:ext cx="310896" cy="1286951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9099" y="2315784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8B8D"/>
                </a:solidFill>
                <a:latin typeface="Microsoft YaHei"/>
              </a:rPr>
              <a:t>27.46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3886200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252C"/>
                </a:solidFill>
                <a:latin typeface="Microsoft YaHei"/>
              </a:rPr>
              <a:t>ub1024</a:t>
            </a:r>
          </a:p>
        </p:txBody>
      </p:sp>
      <p:sp>
        <p:nvSpPr>
          <p:cNvPr id="19" name="Oval 18"/>
          <p:cNvSpPr/>
          <p:nvPr/>
        </p:nvSpPr>
        <p:spPr>
          <a:xfrm>
            <a:off x="1572768" y="2039112"/>
            <a:ext cx="109728" cy="109728"/>
          </a:xfrm>
          <a:prstGeom prst="ellipse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28216" y="200253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prefill ms/token</a:t>
            </a:r>
          </a:p>
        </p:txBody>
      </p:sp>
      <p:sp>
        <p:nvSpPr>
          <p:cNvPr id="21" name="Oval 20"/>
          <p:cNvSpPr/>
          <p:nvPr/>
        </p:nvSpPr>
        <p:spPr>
          <a:xfrm>
            <a:off x="3081528" y="2039112"/>
            <a:ext cx="109728" cy="109728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6976" y="200253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decode ms/token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6634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D7EA6"/>
                </a:solidFill>
                <a:latin typeface="Microsoft YaHei"/>
              </a:rPr>
              <a:t>-22.1%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19379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prefill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5046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4 runs /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6634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-4.5%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519379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decode 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55046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ub512 variance 较大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7" y="46634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+0.49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519379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VRAM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55046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9.25 → 9.74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1417320"/>
            <a:ext cx="5212080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417320"/>
            <a:ext cx="64008" cy="442569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1581912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4K prompt：TTFT 最快不等于请求最快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2" y="1965960"/>
            <a:ext cx="549783" cy="42976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1984248"/>
            <a:ext cx="45834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ub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8015" y="1965960"/>
            <a:ext cx="1141857" cy="42976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3735" y="1984248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prefill ms/tok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9872" y="1965960"/>
            <a:ext cx="1141857" cy="42976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1984248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decode ms/tok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61729" y="1965960"/>
            <a:ext cx="845820" cy="42976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7449" y="1984248"/>
            <a:ext cx="7543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峰值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7549" y="1965960"/>
            <a:ext cx="1057275" cy="429768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53269" y="1984248"/>
            <a:ext cx="96583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估算总时长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28232" y="2395728"/>
            <a:ext cx="549783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2414016"/>
            <a:ext cx="45834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78015" y="2395728"/>
            <a:ext cx="1141857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23735" y="2414016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5.78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9872" y="2395728"/>
            <a:ext cx="1141857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5592" y="2414016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24.92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61729" y="2395728"/>
            <a:ext cx="8458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07449" y="2414016"/>
            <a:ext cx="7543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9.06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7549" y="2395728"/>
            <a:ext cx="1057275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53269" y="2414016"/>
            <a:ext cx="96583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49.2 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28232" y="2825496"/>
            <a:ext cx="549783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2843784"/>
            <a:ext cx="45834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512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8015" y="2825496"/>
            <a:ext cx="1141857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23735" y="2843784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5.04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19872" y="2825496"/>
            <a:ext cx="1141857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65592" y="2843784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29.91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61729" y="2825496"/>
            <a:ext cx="845820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07449" y="2843784"/>
            <a:ext cx="7543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9.31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07549" y="2825496"/>
            <a:ext cx="1057275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53269" y="2843784"/>
            <a:ext cx="96583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51.3 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28232" y="3255263"/>
            <a:ext cx="549783" cy="42976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73952" y="3273551"/>
            <a:ext cx="45834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1024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78015" y="3255263"/>
            <a:ext cx="1141857" cy="42976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23735" y="3273551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3.13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19872" y="3255263"/>
            <a:ext cx="1141857" cy="42976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65592" y="3273551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24.71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61729" y="3255263"/>
            <a:ext cx="845820" cy="42976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07449" y="3273551"/>
            <a:ext cx="7543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9.80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07549" y="3255263"/>
            <a:ext cx="1057275" cy="429768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53269" y="3273551"/>
            <a:ext cx="96583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38.1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28232" y="3685031"/>
            <a:ext cx="549783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73952" y="3703319"/>
            <a:ext cx="45834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2048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78015" y="3685031"/>
            <a:ext cx="1141857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23735" y="3703319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2.19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19872" y="3685031"/>
            <a:ext cx="1141857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65592" y="3703319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36.42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61729" y="3685031"/>
            <a:ext cx="845820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07449" y="3703319"/>
            <a:ext cx="7543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10.76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07549" y="3685031"/>
            <a:ext cx="1057275" cy="429768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53269" y="3703319"/>
            <a:ext cx="96583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46.3 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28232" y="4114800"/>
            <a:ext cx="549783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73952" y="4133087"/>
            <a:ext cx="45834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4096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78015" y="4114800"/>
            <a:ext cx="1141857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23735" y="4133087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1.56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19872" y="4114800"/>
            <a:ext cx="1141857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65592" y="4133087"/>
            <a:ext cx="1050417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32.72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61729" y="4114800"/>
            <a:ext cx="8458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07449" y="4133087"/>
            <a:ext cx="7543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12.75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07549" y="4114800"/>
            <a:ext cx="1057275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53269" y="4133087"/>
            <a:ext cx="96583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39.9 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55664" y="4882896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D252C"/>
                </a:solidFill>
                <a:latin typeface="Microsoft YaHei"/>
              </a:rPr>
              <a:t>ub4096 把 prefill 推到 1.56 ms/token，但 persistent hit=0、VRAM 与 decode 代价上升；ub1024 的端到端估算最好。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4306ebc28 · 512vs1024/aggregate-summary.md；3821d9835 · input-4096 summaries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NON-OFFLOAD CEILING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0716：全驻留性能说明 offload 的主要差距仍在数据面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56432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71600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同一 L20 / 同 Q4_K 模型；工具不同，仅作天花板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5157216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01952"/>
            <a:ext cx="64008" cy="354787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66544"/>
            <a:ext cx="47731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吞吐对比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624327"/>
            <a:ext cx="114300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全驻留 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3704" y="2715768"/>
            <a:ext cx="2542032" cy="201168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3704" y="2715768"/>
            <a:ext cx="2401923" cy="20116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606039"/>
            <a:ext cx="731519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5102.37 tok/s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177539"/>
            <a:ext cx="114300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offload 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03704" y="3268979"/>
            <a:ext cx="2542032" cy="201168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03704" y="3268979"/>
            <a:ext cx="109806" cy="20116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3159251"/>
            <a:ext cx="731519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233.26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730752"/>
            <a:ext cx="114300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全驻留 tg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03704" y="3822191"/>
            <a:ext cx="2542032" cy="201168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3704" y="3822191"/>
            <a:ext cx="74825" cy="20116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712463"/>
            <a:ext cx="731519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158.95 tok/s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283964"/>
            <a:ext cx="114300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offload tg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03704" y="4375404"/>
            <a:ext cx="2542032" cy="201168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03704" y="4375404"/>
            <a:ext cx="18288" cy="20116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4265676"/>
            <a:ext cx="731519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36.41 tok/s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1901952"/>
            <a:ext cx="5230368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1901952"/>
            <a:ext cx="64008" cy="354787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20665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如何理解这个差距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523744"/>
            <a:ext cx="1591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≈21.9×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054096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prefill 吞吐差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364991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5102 vs ≈233 tok/s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523744"/>
            <a:ext cx="1591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≈4.4×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054096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decode 吞吐差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364991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159 vs ≈36 tok/s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858768"/>
            <a:ext cx="438912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prefill：大量专家首次换入 + callback/graph 分段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decode：miss 的 SSD read + H2D + 同步持续暴露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这直接催生了后续投机与传输重叠尝试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69864"/>
            <a:ext cx="10533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8737D"/>
                </a:solidFill>
                <a:latin typeface="Microsoft YaHei"/>
              </a:rPr>
              <a:t>不能用“模型文件 20.60 GiB”与 offload 进程峰值直接计算节省比例；全驻留结果未记录同口径进程峰值。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5dd375005 · non-offload-single-gpu/llama-bench-pp1024-tg1024.md；512vs1024 retest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SPECULATIVE DECODING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0719：n-gram 投机减少 target step，却放大每步专家集合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26464"/>
            <a:ext cx="5175504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4008" cy="1883664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4791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验证循环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2996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8B8D"/>
                </a:solidFill>
                <a:latin typeface="Microsoft YaHei"/>
              </a:rPr>
              <a:t>committed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01168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8737D"/>
                </a:solidFill>
                <a:latin typeface="Microsoft YaHe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0299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1495B"/>
                </a:solidFill>
                <a:latin typeface="Microsoft YaHei"/>
              </a:rPr>
              <a:t>n-gram candidates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5968" y="2176272"/>
            <a:ext cx="640080" cy="0"/>
          </a:xfrm>
          <a:prstGeom prst="line">
            <a:avLst/>
          </a:prstGeom>
          <a:ln w="2032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0288" y="2487168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一次 target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060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8737D"/>
                </a:solidFill>
                <a:latin typeface="Microsoft YaHei"/>
              </a:rPr>
              <a:t>接受前缀；回滚未接受位置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426464"/>
            <a:ext cx="521208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426464"/>
            <a:ext cx="64008" cy="1883664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91056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offload 视角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299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target step 数下降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029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8737D"/>
                </a:solidFill>
                <a:latin typeface="Microsoft YaHei"/>
              </a:rPr>
              <a:t>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029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1495B"/>
                </a:solidFill>
                <a:latin typeface="Microsoft YaHei"/>
              </a:rPr>
              <a:t>candidate-only expert 增加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87752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D252C"/>
                </a:solidFill>
                <a:latin typeface="Microsoft YaHei"/>
              </a:rPr>
              <a:t>收益条件：减少的 target 启动/计算 &gt; 额外 SSD/H2D + cache 污染 + rollback。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3822191"/>
            <a:ext cx="1186681" cy="393192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840479"/>
            <a:ext cx="109524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6489" y="3822191"/>
            <a:ext cx="4319520" cy="393192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2209" y="3840479"/>
            <a:ext cx="4228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处理方式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6010" y="3822191"/>
            <a:ext cx="1946157" cy="393192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1730" y="3840479"/>
            <a:ext cx="1854717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目标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215383"/>
            <a:ext cx="1186681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233671"/>
            <a:ext cx="109524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Stage 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36489" y="4215383"/>
            <a:ext cx="43195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2209" y="4233671"/>
            <a:ext cx="4228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所有 candidate 参与正常准入；新增 candidate-only 指标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6010" y="4215383"/>
            <a:ext cx="1946157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1730" y="4233671"/>
            <a:ext cx="1854717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先测额外 I/O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4608576"/>
            <a:ext cx="1186681" cy="393192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4626864"/>
            <a:ext cx="109524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Stage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6489" y="4608576"/>
            <a:ext cx="4319520" cy="393192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2209" y="4626864"/>
            <a:ext cx="4228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candidate-only miss 只进 scratch；predictor 仅观察 committed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6010" y="4608576"/>
            <a:ext cx="1946157" cy="393192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1730" y="4626864"/>
            <a:ext cx="1854717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避免 cache 污染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5001768"/>
            <a:ext cx="1186681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020055"/>
            <a:ext cx="109524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36489" y="5001768"/>
            <a:ext cx="43195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82209" y="5020055"/>
            <a:ext cx="4228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各 16 outputs 校准；spec &lt; 0.98×base 才继续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6010" y="5001768"/>
            <a:ext cx="1946157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1730" y="5020055"/>
            <a:ext cx="1854717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运行时自适应关闭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3822191"/>
            <a:ext cx="29535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58200" y="3822191"/>
            <a:ext cx="64008" cy="157276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8512" y="3986783"/>
            <a:ext cx="2569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配套修复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4334256"/>
            <a:ext cx="24048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8737D"/>
                </a:solidFill>
                <a:latin typeface="Microsoft YaHei"/>
              </a:rPr>
              <a:t>• sequence rollback capability probe</a:t>
            </a:r>
            <a:br/>
            <a:r>
              <a:t>• partial checkpoint replay</a:t>
            </a:r>
            <a:br/>
            <a:r>
              <a:t>• per-mode generation hash</a:t>
            </a:r>
            <a:br/>
            <a:r>
              <a:t>• candidate-only bytes/hit 指标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0719_speculative_decoding@94fdf126b · tools/moe-bench/main.cpp · slot_pool.cpp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SPECULATIVE DECODING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0719：最终重复数据中，投机解码更慢、读得更多，而且 token 等价性未通过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2587752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7160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final 3-repeat · pp1024/tg1024 · 6 GiB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792224"/>
            <a:ext cx="1691499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160005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307" y="1792224"/>
            <a:ext cx="1364112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027" y="1810512"/>
            <a:ext cx="12726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TPOT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5420" y="1792224"/>
            <a:ext cx="1418677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1140" y="1810512"/>
            <a:ext cx="1327237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相对基线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4097" y="1792224"/>
            <a:ext cx="1636935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9817" y="1810512"/>
            <a:ext cx="1545495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SSD MiB/tok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1032" y="1792224"/>
            <a:ext cx="1222244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6752" y="1810512"/>
            <a:ext cx="1130804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accept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77" y="1792224"/>
            <a:ext cx="1800628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997" y="1810512"/>
            <a:ext cx="1709188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verify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83905" y="1792224"/>
            <a:ext cx="1527806" cy="425196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9625" y="1810512"/>
            <a:ext cx="143636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状态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217420"/>
            <a:ext cx="1691499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2235708"/>
            <a:ext cx="160005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41307" y="2217420"/>
            <a:ext cx="1364112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87027" y="2235708"/>
            <a:ext cx="12726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26.40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05420" y="2217420"/>
            <a:ext cx="1418677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1140" y="2235708"/>
            <a:ext cx="1327237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4097" y="2217420"/>
            <a:ext cx="1636935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9817" y="2235708"/>
            <a:ext cx="1545495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42.22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61032" y="2217420"/>
            <a:ext cx="122224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6752" y="2235708"/>
            <a:ext cx="1130804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77" y="2217420"/>
            <a:ext cx="1800628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997" y="2235708"/>
            <a:ext cx="1709188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1.00 out/step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83905" y="2217420"/>
            <a:ext cx="1527806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9625" y="2235708"/>
            <a:ext cx="143636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基线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2642616"/>
            <a:ext cx="1691499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2660904"/>
            <a:ext cx="160005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Stage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1307" y="2642616"/>
            <a:ext cx="1364112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87027" y="2660904"/>
            <a:ext cx="12726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31.20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05420" y="2642616"/>
            <a:ext cx="1418677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1140" y="2660904"/>
            <a:ext cx="1327237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+18.2%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4097" y="2642616"/>
            <a:ext cx="1636935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69817" y="2660904"/>
            <a:ext cx="1545495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61.29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61032" y="2642616"/>
            <a:ext cx="1222244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6752" y="2660904"/>
            <a:ext cx="1130804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63.96%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3277" y="2642616"/>
            <a:ext cx="1800628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997" y="2660904"/>
            <a:ext cx="1709188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1.43 out/step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83905" y="2642616"/>
            <a:ext cx="1527806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9625" y="2660904"/>
            <a:ext cx="143636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退化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3067812"/>
            <a:ext cx="1691499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" y="3086100"/>
            <a:ext cx="160005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Stage 3 gate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41307" y="3067812"/>
            <a:ext cx="1364112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87027" y="3086100"/>
            <a:ext cx="12726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34.11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5420" y="3067812"/>
            <a:ext cx="1418677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51140" y="3086100"/>
            <a:ext cx="1327237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+29.2%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24097" y="3067812"/>
            <a:ext cx="1636935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69817" y="3086100"/>
            <a:ext cx="1545495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65.45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61032" y="3067812"/>
            <a:ext cx="1222244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6752" y="3086100"/>
            <a:ext cx="1130804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0%*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83277" y="3067812"/>
            <a:ext cx="1800628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28997" y="3086100"/>
            <a:ext cx="1709188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1.00 out/step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83905" y="3067812"/>
            <a:ext cx="1527806" cy="425196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9625" y="3086100"/>
            <a:ext cx="143636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自动关闭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9808" y="3794760"/>
            <a:ext cx="3401568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9808" y="3794760"/>
            <a:ext cx="64008" cy="171907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39593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额外数据面成本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4416552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+45.2%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4946904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Stage 2 SSD/token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" y="525780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42.22 → 61.29 MiB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87752" y="441655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20.57 MiB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87752" y="4946904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candidate-only / output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87752" y="5257800"/>
            <a:ext cx="1261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Stage 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07408" y="3794760"/>
            <a:ext cx="3401568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07408" y="3794760"/>
            <a:ext cx="64008" cy="171907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17720" y="39593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Stage 3 的判定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81728" y="4416552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94.61 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81728" y="494690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spec 校准 / output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36208" y="4416552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45.40 ms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36208" y="494690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base 校准 / output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208" y="5257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3/3 repeats 关闭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65008" y="3794760"/>
            <a:ext cx="3346704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65008" y="3794760"/>
            <a:ext cx="64008" cy="171907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75320" y="3959352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正确性红线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7" y="4352544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D252C"/>
                </a:solidFill>
                <a:latin typeface="Microsoft YaHei"/>
              </a:rPr>
              <a:t>final baseline / stage2 / stage3 的 generation hash 不同；token CSV 从约第 101 个输出开始分叉。repeats_consistent=true 只代表各模式内部稳定。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" y="5833872"/>
            <a:ext cx="104241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8737D"/>
                </a:solidFill>
                <a:latin typeface="Microsoft YaHei"/>
              </a:rPr>
              <a:t>* Stage 3 仅在校准期尝试 48 个 draft，全部未接受，之后回到 baseline 路径。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94fdf126b · 0720-speculative-stage3/final-*.summary.txt + final-*-tokens.csv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MTP OFFLOAD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0720：MTP 走模型内 nextn 路径，并补上 CUDA MMQ 的尾块边界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507492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64008" cy="449884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690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双 context 推理路径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1" y="2048256"/>
            <a:ext cx="1572768" cy="676656"/>
          </a:xfrm>
          <a:prstGeom prst="roundRect">
            <a:avLst/>
          </a:prstGeom>
          <a:solidFill>
            <a:srgbClr val="DFEAF2"/>
          </a:solidFill>
          <a:ln w="12700">
            <a:solidFill>
              <a:srgbClr val="3D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40280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D7EA6"/>
                </a:solidFill>
                <a:latin typeface="Microsoft YaHei"/>
              </a:rPr>
              <a:t>target ctx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048256"/>
            <a:ext cx="1572768" cy="67665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240280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B5EA7"/>
                </a:solidFill>
                <a:latin typeface="Microsoft YaHei"/>
              </a:rPr>
              <a:t>MTP draft ctx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33472" y="2386584"/>
            <a:ext cx="877824" cy="0"/>
          </a:xfrm>
          <a:prstGeom prst="line">
            <a:avLst/>
          </a:prstGeom>
          <a:ln w="2159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43784" y="209397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ctx_other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27248"/>
            <a:ext cx="4407408" cy="1847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target prefill 后 common_speculative_process 初始化 MTP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draft_n_max=1 为主；target 一次验证 token + draft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accept 后同步 target/draft 的 KV tail；n_rs_seq 至少 1</a:t>
            </a:r>
          </a:p>
          <a:p>
            <a:pPr>
              <a:lnSpc>
                <a:spcPct val="106000"/>
              </a:lnSpc>
              <a:spcAft>
                <a:spcPts val="600"/>
              </a:spcAft>
              <a:defRPr sz="118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7B5EA7"/>
                </a:solidFill>
              </a:rPr>
              <a:t>•  Q8 KV cache 与独立 draft perf 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5266944"/>
            <a:ext cx="437083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1D252C"/>
                </a:solidFill>
                <a:latin typeface="Microsoft YaHei"/>
              </a:rPr>
              <a:t>MTP repack 记录 41 个 MoE 层；6 GiB 预算对应 45 persistent slots/layer。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1417320"/>
            <a:ext cx="530352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1417320"/>
            <a:ext cx="64008" cy="202996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581912"/>
            <a:ext cx="4919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MMQ 尾块修复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0253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1495B"/>
                </a:solidFill>
                <a:latin typeface="Microsoft YaHei"/>
              </a:rPr>
              <a:t>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929384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1D252C"/>
                </a:solidFill>
                <a:latin typeface="Microsoft YaHei"/>
              </a:rPr>
              <a:t>多输出 candidate batch 的 flattened row 数不一定是 J_max 的倍数，旧 kernel 会越界读 ids_dst。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6609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Microsoft YaHei"/>
              </a:rPr>
              <a:t>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587752"/>
            <a:ext cx="3986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1D252C"/>
                </a:solidFill>
                <a:latin typeface="Microsoft YaHei"/>
              </a:rPr>
              <a:t>把 ids 与量化 workspace pad 到 J_max；kernel 对 col &lt; col_diff 做保护。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3703320"/>
            <a:ext cx="530352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3703320"/>
            <a:ext cx="64008" cy="2212848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3867911"/>
            <a:ext cx="4919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指标修复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251960"/>
            <a:ext cx="468172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1D252C"/>
                </a:solidFill>
                <a:latin typeface="Microsoft YaHei"/>
              </a:rPr>
              <a:t>原 profiler 用 n_tokens&gt;1 推断 prefill，会把 MTP process / speculative decode 混入 prefill。最新提交改为显式 request phase：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91656" y="5010912"/>
            <a:ext cx="1234440" cy="310896"/>
          </a:xfrm>
          <a:prstGeom prst="roundRect">
            <a:avLst/>
          </a:prstGeom>
          <a:solidFill>
            <a:srgbClr val="DFEAF2"/>
          </a:solidFill>
          <a:ln w="12700">
            <a:solidFill>
              <a:srgbClr val="DF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5029200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D7EA6"/>
                </a:solidFill>
                <a:latin typeface="Microsoft YaHei"/>
              </a:rPr>
              <a:t>prefill_target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0688" y="5010912"/>
            <a:ext cx="1572768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7263" y="502920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B5EA7"/>
                </a:solidFill>
                <a:latin typeface="Microsoft YaHei"/>
              </a:rPr>
              <a:t>prefill_mtp_process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5010912"/>
            <a:ext cx="804672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4624" y="502920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8B8D"/>
                </a:solidFill>
                <a:latin typeface="Microsoft YaHei"/>
              </a:rPr>
              <a:t>decode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5458968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8737D"/>
                </a:solidFill>
                <a:latin typeface="Microsoft YaHei"/>
              </a:rPr>
              <a:t>summary 同时保留 prefill_total，避免修复前后口径断裂。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0edf6febc + fde549896 · tools/moe-bench/main.cpp · ggml-cuda/mmq.cu/.cuh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MTP OFFLOAD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0720：MTP 已跑通，但当前数字不能证明相对 no-MTP 的净收益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62456"/>
            <a:ext cx="2596896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0744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Q8_0 · 6 GiB · 45/256 slots · 单次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712533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01368"/>
            <a:ext cx="162109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结果集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2341" y="1783080"/>
            <a:ext cx="1270589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8061" y="1801368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TTFT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2931" y="1783080"/>
            <a:ext cx="1270589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8651" y="1801368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TPOT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3520" y="1783080"/>
            <a:ext cx="1215346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9240" y="1801368"/>
            <a:ext cx="112390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accept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8867" y="1783080"/>
            <a:ext cx="1325832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4587" y="1801368"/>
            <a:ext cx="12343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decode hit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4700" y="1783080"/>
            <a:ext cx="1436318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0420" y="1801368"/>
            <a:ext cx="134487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SSD/tok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81018" y="1783080"/>
            <a:ext cx="2430693" cy="46634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6738" y="1801368"/>
            <a:ext cx="233925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249424"/>
            <a:ext cx="1712533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2267712"/>
            <a:ext cx="162109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首轮正式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2341" y="2249424"/>
            <a:ext cx="1270589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8061" y="2267712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6.58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2931" y="2249424"/>
            <a:ext cx="1270589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8651" y="2267712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8.99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3520" y="2249424"/>
            <a:ext cx="1215346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9240" y="2267712"/>
            <a:ext cx="112390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83.3%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8867" y="2249424"/>
            <a:ext cx="1325832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4587" y="2267712"/>
            <a:ext cx="12343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98.7%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4700" y="2249424"/>
            <a:ext cx="1436318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0420" y="2267712"/>
            <a:ext cx="134487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0.20 MiB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81018" y="2249424"/>
            <a:ext cx="2430693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6738" y="2267712"/>
            <a:ext cx="233925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旧 phase 口径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2715768"/>
            <a:ext cx="1712533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2734056"/>
            <a:ext cx="162109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normal request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2341" y="2715768"/>
            <a:ext cx="1270589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08061" y="2734056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8.69 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32931" y="2715768"/>
            <a:ext cx="1270589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8651" y="2734056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9.46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03520" y="2715768"/>
            <a:ext cx="1215346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9240" y="2734056"/>
            <a:ext cx="112390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87.0%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8867" y="2715768"/>
            <a:ext cx="1325832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4587" y="2734056"/>
            <a:ext cx="12343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96.2%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4700" y="2715768"/>
            <a:ext cx="1436318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90420" y="2734056"/>
            <a:ext cx="134487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0.55 MiB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1018" y="2715768"/>
            <a:ext cx="2430693" cy="46634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6738" y="2734056"/>
            <a:ext cx="233925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prompt 不同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3182112"/>
            <a:ext cx="1712533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" y="3200400"/>
            <a:ext cx="162109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prefill split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2341" y="3182112"/>
            <a:ext cx="1270589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08061" y="3200400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11.38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32931" y="3182112"/>
            <a:ext cx="1270589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78651" y="3200400"/>
            <a:ext cx="117914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9.39 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3520" y="3182112"/>
            <a:ext cx="1215346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49240" y="3200400"/>
            <a:ext cx="112390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94.9%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8867" y="3182112"/>
            <a:ext cx="1325832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4587" y="3200400"/>
            <a:ext cx="12343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92.4%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4700" y="3182112"/>
            <a:ext cx="1436318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90420" y="3200400"/>
            <a:ext cx="134487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3.44 MiB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81018" y="3182112"/>
            <a:ext cx="2430693" cy="46634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26738" y="3200400"/>
            <a:ext cx="2339253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新 phase 口径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9808" y="3959352"/>
            <a:ext cx="340156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9808" y="3959352"/>
            <a:ext cx="64008" cy="160934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41239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最新 TTFT 分解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4507992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D7EA6"/>
                </a:solidFill>
                <a:latin typeface="Microsoft YaHei"/>
              </a:rPr>
              <a:t>11.074 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5038344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target prefill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6896" y="4507992"/>
            <a:ext cx="12252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5EA7"/>
                </a:solidFill>
                <a:latin typeface="Microsoft YaHei"/>
              </a:rPr>
              <a:t>0.306 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96896" y="5038344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MTP process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96896" y="5349240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只占 2.7%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07408" y="3959352"/>
            <a:ext cx="340156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07408" y="3959352"/>
            <a:ext cx="64008" cy="160934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17720" y="41239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积极信号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90872" y="4526280"/>
            <a:ext cx="279806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D252C"/>
                </a:solidFill>
                <a:latin typeface="Microsoft YaHei"/>
              </a:rPr>
              <a:t>MTP draft/accept、KV rollback、offload callback 和 MMQ 多输出路径已经在同一工具中闭环；decode I/O 在部分 run 中很低。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65008" y="3959352"/>
            <a:ext cx="3346704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65008" y="3959352"/>
            <a:ext cx="64008" cy="1609344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5320" y="4123944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证据缺口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9327" y="4526280"/>
            <a:ext cx="27614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252C"/>
                </a:solidFill>
                <a:latin typeface="Microsoft YaHei"/>
              </a:rPr>
              <a:t>无同 commit、同 Q8、同 prompt 的 no-MTP full summary；单次波动大；仓库中也没有 baseline/MTP token 序列等价报告。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952" y="5843016"/>
            <a:ext cx="1045159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8737D"/>
                </a:solidFill>
                <a:latin typeface="Microsoft YaHei"/>
              </a:rPr>
              <a:t>因此本页只说明“功能跑通 + 指标可解释”，不把 8.99 ms/token 写成已证实加速。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0720_mtp@fde549896 · mtp-pp1024-tg1024/**/summary.txt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DRAM STREAMING ·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0724 Phase 1：先让 gate weight 边到边算，up/down 仍整批等待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62456"/>
            <a:ext cx="3200400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0744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仅 prefill + DRAM source + tokens&gt;8 + miss&gt;1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84248"/>
            <a:ext cx="1645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984248"/>
            <a:ext cx="64008" cy="1261872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3D7EA6"/>
                </a:solidFill>
                <a:latin typeface="Microsoft YaHei"/>
              </a:rPr>
              <a:t>DRAM mmap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33472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只读映射 + 预触页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9736" y="2606040"/>
            <a:ext cx="356616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1216" y="1984248"/>
            <a:ext cx="1645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6" y="1984248"/>
            <a:ext cx="64008" cy="126187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22199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8B8D"/>
                </a:solidFill>
                <a:latin typeface="Microsoft YaHei"/>
              </a:rPr>
              <a:t>Callback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633472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按 kind / route rank 提交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62856" y="2606040"/>
            <a:ext cx="539496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57216" y="1984248"/>
            <a:ext cx="1645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7216" y="1984248"/>
            <a:ext cx="64008" cy="126187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222199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D1495B"/>
                </a:solidFill>
                <a:latin typeface="Microsoft YaHei"/>
              </a:rPr>
              <a:t>H2D 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2633472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每 (slot,kind) 发布 event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48856" y="2606040"/>
            <a:ext cx="539496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43216" y="1984248"/>
            <a:ext cx="1645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984248"/>
            <a:ext cx="64008" cy="126187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222199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4B942"/>
                </a:solidFill>
                <a:latin typeface="Microsoft YaHei"/>
              </a:rPr>
              <a:t>Gate MMQ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633472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ready group≤8 分组执行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34856" y="2606040"/>
            <a:ext cx="539496" cy="0"/>
          </a:xfrm>
          <a:prstGeom prst="line">
            <a:avLst/>
          </a:prstGeom>
          <a:ln w="1778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29216" y="1984248"/>
            <a:ext cx="1645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29216" y="1984248"/>
            <a:ext cx="64008" cy="126187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8" y="222199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7B5EA7"/>
                </a:solidFill>
                <a:latin typeface="Microsoft YaHei"/>
              </a:rPr>
              <a:t>Up / 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2633472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等待完整 kind，保持 batched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3749039"/>
            <a:ext cx="5157216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" y="3749039"/>
            <a:ext cx="64008" cy="177393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913631"/>
            <a:ext cx="47731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希望隐藏的成本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9826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1495B"/>
                </a:solidFill>
                <a:latin typeface="Microsoft YaHei"/>
              </a:rPr>
              <a:t>等待一整层 3×miss blobs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72384" y="4553712"/>
            <a:ext cx="713231" cy="0"/>
          </a:xfrm>
          <a:prstGeom prst="line">
            <a:avLst/>
          </a:prstGeom>
          <a:ln w="2159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04487" y="4398264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Microsoft YaHei"/>
              </a:rPr>
              <a:t>gate miss ready 即算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892040"/>
            <a:ext cx="4169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8737D"/>
                </a:solidFill>
                <a:latin typeface="Microsoft YaHei"/>
              </a:rPr>
              <a:t>理论上用 gate 计算覆盖后续 up/down 传输。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3749039"/>
            <a:ext cx="5212080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9632" y="3749039"/>
            <a:ext cx="64008" cy="1773936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3913631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Phase 1 仍保留的控制开销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315968"/>
            <a:ext cx="4608576" cy="9875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expert_bounds device→host copy + cudaStreamSynchronize</a:t>
            </a:r>
          </a:p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host sort + 多个小 gate MMQ launch + 每组等待</a:t>
            </a:r>
          </a:p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D1495B"/>
                </a:solidFill>
              </a:rPr>
              <a:t>•  只流水 gate；完整 expert 依赖链没有被 overlap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0724_transfer@2dcac38ea · mmq.cu · moe_offload_io.cu · io.cpp · slot_pool.cpp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DRAM STREAMING · PHASE 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0724 Phase 1：控制面等待少了，但 GPU 时间线更差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62456"/>
            <a:ext cx="3785615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0744"/>
            <a:ext cx="371246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同最终二进制开关 · DRAM prefault · cold cache · 3 repeats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4736592"/>
            <a:ext cx="6126479" cy="0"/>
          </a:xfrm>
          <a:prstGeom prst="line">
            <a:avLst/>
          </a:prstGeom>
          <a:ln w="1270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650492" y="3847298"/>
            <a:ext cx="310896" cy="889293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3332" y="3636986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D7EA6"/>
                </a:solidFill>
                <a:latin typeface="Microsoft YaHei"/>
              </a:rPr>
              <a:t>1360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7107" y="3681692"/>
            <a:ext cx="310896" cy="1054899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948" y="3471380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1495B"/>
                </a:solidFill>
                <a:latin typeface="Microsoft YaHei"/>
              </a:rPr>
              <a:t>1614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0974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D252C"/>
                </a:solidFill>
                <a:latin typeface="Microsoft YaHei"/>
              </a:rPr>
              <a:t>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5787" y="3602975"/>
            <a:ext cx="310896" cy="113361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8627" y="3392663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D7EA6"/>
                </a:solidFill>
                <a:latin typeface="Microsoft YaHei"/>
              </a:rPr>
              <a:t>1734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2403" y="3392910"/>
            <a:ext cx="310896" cy="1343681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5244" y="3182598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1495B"/>
                </a:solidFill>
                <a:latin typeface="Microsoft YaHei"/>
              </a:rPr>
              <a:t>2055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480974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D252C"/>
                </a:solidFill>
                <a:latin typeface="Microsoft YaHei"/>
              </a:rPr>
              <a:t>128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01083" y="3284968"/>
            <a:ext cx="310896" cy="1451623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3923" y="3074656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D7EA6"/>
                </a:solidFill>
                <a:latin typeface="Microsoft YaHei"/>
              </a:rPr>
              <a:t>2220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7699" y="3003705"/>
            <a:ext cx="310896" cy="1732886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539" y="2793393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1495B"/>
                </a:solidFill>
                <a:latin typeface="Microsoft YaHei"/>
              </a:rPr>
              <a:t>2650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80974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D252C"/>
                </a:solidFill>
                <a:latin typeface="Microsoft YaHei"/>
              </a:rPr>
              <a:t>256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6380" y="2949506"/>
            <a:ext cx="310896" cy="1787085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9220" y="2739194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D7EA6"/>
                </a:solidFill>
                <a:latin typeface="Microsoft YaHei"/>
              </a:rPr>
              <a:t>2733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82996" y="2667393"/>
            <a:ext cx="310896" cy="206919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5836" y="2457081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1495B"/>
                </a:solidFill>
                <a:latin typeface="Microsoft YaHei"/>
              </a:rPr>
              <a:t>3165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480974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D252C"/>
                </a:solidFill>
                <a:latin typeface="Microsoft YaHei"/>
              </a:rPr>
              <a:t>512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1676" y="2545198"/>
            <a:ext cx="310896" cy="2191393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4516" y="2334886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D7EA6"/>
                </a:solidFill>
                <a:latin typeface="Microsoft YaHei"/>
              </a:rPr>
              <a:t>3352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8292" y="2320488"/>
            <a:ext cx="310896" cy="2416103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71131" y="2110176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1495B"/>
                </a:solidFill>
                <a:latin typeface="Microsoft YaHei"/>
              </a:rPr>
              <a:t>3696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80974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D252C"/>
                </a:solidFill>
                <a:latin typeface="Microsoft YaHei"/>
              </a:rPr>
              <a:t>1024</a:t>
            </a:r>
          </a:p>
        </p:txBody>
      </p:sp>
      <p:sp>
        <p:nvSpPr>
          <p:cNvPr id="33" name="Oval 32"/>
          <p:cNvSpPr/>
          <p:nvPr/>
        </p:nvSpPr>
        <p:spPr>
          <a:xfrm>
            <a:off x="1371600" y="1847088"/>
            <a:ext cx="109728" cy="109728"/>
          </a:xfrm>
          <a:prstGeom prst="ellipse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27048" y="1810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batched TTFT ms</a:t>
            </a:r>
          </a:p>
        </p:txBody>
      </p:sp>
      <p:sp>
        <p:nvSpPr>
          <p:cNvPr id="35" name="Oval 34"/>
          <p:cNvSpPr/>
          <p:nvPr/>
        </p:nvSpPr>
        <p:spPr>
          <a:xfrm>
            <a:off x="2880360" y="1847088"/>
            <a:ext cx="109728" cy="109728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1810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8737D"/>
                </a:solidFill>
                <a:latin typeface="Microsoft YaHei"/>
              </a:rPr>
              <a:t>stream TTFT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6992" y="141732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36992" y="1417320"/>
            <a:ext cx="64008" cy="443484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7304" y="158191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所有点都未交叉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2011680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+18.6%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2542032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64 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2011680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1495B"/>
                </a:solidFill>
                <a:latin typeface="Microsoft YaHei"/>
              </a:rPr>
              <a:t>+19.4%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2" y="2542032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256 token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3236976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+10.3%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767328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1024 token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078224"/>
            <a:ext cx="1261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惩罚虽收窄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323697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0.10 ms/tok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4352" y="3767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1024 callback wall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4352" y="407822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2.64 → 0.10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4535424"/>
            <a:ext cx="27614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1D252C"/>
                </a:solidFill>
                <a:latin typeface="Microsoft YaHei"/>
              </a:rPr>
              <a:t>但 1024 的 CUDA-timed interval 从 0.19 升到 2.95 ms/token；其中包含 stream wait 和额外小 kernel launch。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5797296"/>
            <a:ext cx="104424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8737D"/>
                </a:solidFill>
                <a:latin typeface="Microsoft YaHei"/>
              </a:rPr>
              <a:t>结论：被隐藏的是 host callback 阻塞，暴露出来的是串行 transfer wait 与 gate 分组启动成本。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2dcac38ea · prefill-expert-stream-phase1/RESULTS.md + final-ab/summary.csv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TRANSFER TO CPU · P0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0724 P0：移除 D2H、整流同步和重复排序，结论仍未改变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515721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64008" cy="221284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7731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P0 做了什么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4526280" cy="1389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callback 直接发布 [slot, routed_count, miss] execution plan</a:t>
            </a:r>
          </a:p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Gate MMQ 不再读回 expert_bounds，不再 cudaStreamSynchronize</a:t>
            </a:r>
          </a:p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miss blobs 用三类线性 bucket 替代 comparison sort</a:t>
            </a:r>
          </a:p>
          <a:p>
            <a:pPr>
              <a:lnSpc>
                <a:spcPct val="106000"/>
              </a:lnSpc>
              <a:spcAft>
                <a:spcPts val="500"/>
              </a:spcAft>
              <a:defRPr sz="1160">
                <a:solidFill>
                  <a:srgbClr val="68737D"/>
                </a:solidFill>
                <a:latin typeface="Microsoft YaHei"/>
              </a:defRPr>
            </a:pPr>
            <a:r>
              <a:rPr>
                <a:solidFill>
                  <a:srgbClr val="0F8B8D"/>
                </a:solidFill>
              </a:rPr>
              <a:t>•  无 debug 开关时不采 host timing，避免测量干扰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17320"/>
            <a:ext cx="5230368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344" y="1417320"/>
            <a:ext cx="64008" cy="2212848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5819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52C"/>
                </a:solidFill>
                <a:latin typeface="Microsoft YaHei"/>
              </a:rPr>
              <a:t>诊断证明 plan 不是主要问题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1975104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D7EA6"/>
                </a:solidFill>
                <a:latin typeface="Microsoft YaHei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505456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plans /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975104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8B8D"/>
                </a:solidFill>
                <a:latin typeface="Microsoft YaHei"/>
              </a:rPr>
              <a:t>4,633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50545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active entries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975104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E8B57"/>
                </a:solidFill>
                <a:latin typeface="Microsoft YaHei"/>
              </a:rPr>
              <a:t>7.77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5054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mean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81635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8737D"/>
                </a:solidFill>
                <a:latin typeface="Microsoft YaHei"/>
              </a:rPr>
              <a:t>limit=8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1975104"/>
            <a:ext cx="713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B942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04704" y="250545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52C"/>
                </a:solidFill>
                <a:latin typeface="Microsoft YaHei"/>
              </a:rPr>
              <a:t>singleton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136392"/>
            <a:ext cx="4315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>
                <a:solidFill>
                  <a:srgbClr val="68737D"/>
                </a:solidFill>
                <a:latin typeface="Microsoft YaHei"/>
              </a:rPr>
              <a:t>128-token debug 中 host wait weight-ready 仍累计 443.7 ms。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950208"/>
            <a:ext cx="906448" cy="426719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968496"/>
            <a:ext cx="815008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56256" y="3950208"/>
            <a:ext cx="1478942" cy="426719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1976" y="3968496"/>
            <a:ext cx="1387502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batched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35199" y="3950208"/>
            <a:ext cx="1478942" cy="426719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0919" y="3968496"/>
            <a:ext cx="1387502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Phase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4141" y="3950208"/>
            <a:ext cx="1383526" cy="426719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9861" y="3968496"/>
            <a:ext cx="1292086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97668" y="3950208"/>
            <a:ext cx="1335819" cy="426719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3388" y="3968496"/>
            <a:ext cx="1244379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P0 delta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4376928"/>
            <a:ext cx="906448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395216"/>
            <a:ext cx="815008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512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56256" y="4376928"/>
            <a:ext cx="1478942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01976" y="4395216"/>
            <a:ext cx="1387502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2682.2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35199" y="4376928"/>
            <a:ext cx="1478942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0919" y="4395216"/>
            <a:ext cx="1387502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3164.9 ms*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4141" y="4376928"/>
            <a:ext cx="1383526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59861" y="4395216"/>
            <a:ext cx="1292086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3131.3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97668" y="4376928"/>
            <a:ext cx="1335819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43388" y="4395216"/>
            <a:ext cx="1244379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+16.74%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803648"/>
            <a:ext cx="906448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4821936"/>
            <a:ext cx="815008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1024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56256" y="4803648"/>
            <a:ext cx="1478942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01976" y="4821936"/>
            <a:ext cx="1387502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3322.5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5199" y="4803648"/>
            <a:ext cx="1478942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0919" y="4821936"/>
            <a:ext cx="1387502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3695.5 ms*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4141" y="4803648"/>
            <a:ext cx="1383526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9861" y="4821936"/>
            <a:ext cx="1292086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3715.5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97668" y="4803648"/>
            <a:ext cx="1335819" cy="426719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43388" y="4821936"/>
            <a:ext cx="1244379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+11.83%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07808" y="3950208"/>
            <a:ext cx="3803904" cy="1280160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07808" y="3950208"/>
            <a:ext cx="64008" cy="128016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4224528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1495B"/>
                </a:solidFill>
                <a:latin typeface="Microsoft YaHei"/>
              </a:rPr>
              <a:t>停止条件已满足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25712" y="4133087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D252C"/>
                </a:solidFill>
                <a:latin typeface="Microsoft YaHei"/>
              </a:rPr>
              <a:t>仍远高于 3% regression threshold；不再继续 gate-only 微优化。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" y="5788152"/>
            <a:ext cx="10442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8737D"/>
                </a:solidFill>
                <a:latin typeface="Microsoft YaHei"/>
              </a:rPr>
              <a:t>* Phase 1 与 P0 是不同正式批次，数值用于确认结论一致，不作逐毫秒因果比较。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a03c4fa82 · prefill-expert-stream-p0/RESULTS.md + final-ab/summary.csv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6343D"/>
                </a:solidFill>
                <a:latin typeface="Microsoft YaHe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跨分支综合：哪些进入新基线，哪些保留为失败知识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26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1726369" cy="50190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尝试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4737" y="1399032"/>
            <a:ext cx="2877282" cy="50190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0457" y="1417320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核心假设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2020" y="1399032"/>
            <a:ext cx="2668025" cy="50190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7740" y="1417320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最好证据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0046" y="1399032"/>
            <a:ext cx="1150913" cy="50190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5766" y="1417320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0959" y="1399032"/>
            <a:ext cx="2458768" cy="50190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6679" y="1417320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下一动作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900936"/>
            <a:ext cx="1726369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1919224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共享 scratch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4737" y="1900936"/>
            <a:ext cx="2877282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457" y="1919224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活动轴覆盖全部专家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62020" y="1900936"/>
            <a:ext cx="2668025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7740" y="1919224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ub1024 稳定运行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0046" y="1900936"/>
            <a:ext cx="1150913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5766" y="1919224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保留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0959" y="1900936"/>
            <a:ext cx="2458768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6679" y="1919224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作为共同基线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402840"/>
            <a:ext cx="1726369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2421128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大 ubatch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4737" y="2402840"/>
            <a:ext cx="2877282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30457" y="2421128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减少 callback、增大 GEMM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62020" y="2402840"/>
            <a:ext cx="2668025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7740" y="2421128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TTFT/token -54.8%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30046" y="2402840"/>
            <a:ext cx="1150913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5766" y="2421128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保留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0959" y="2402840"/>
            <a:ext cx="2458768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6679" y="2421128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默认 ub1024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904744"/>
            <a:ext cx="1726369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2923032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8 GiB cache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84737" y="2904744"/>
            <a:ext cx="2877282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0457" y="2923032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hit 换 I/O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62020" y="2904744"/>
            <a:ext cx="2668025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7740" y="2923032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TPOT -17.8%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30046" y="2904744"/>
            <a:ext cx="1150913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5766" y="2923032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按场景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0959" y="2904744"/>
            <a:ext cx="2458768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6679" y="2923032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做预算曲线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406648"/>
            <a:ext cx="1726369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3424936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频次准入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4737" y="3406648"/>
            <a:ext cx="2877282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0457" y="3424936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热点先占空 slot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62020" y="3406648"/>
            <a:ext cx="2668025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7740" y="3424936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前 8 token miss -37.6%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30046" y="3406648"/>
            <a:ext cx="1150913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5766" y="3424936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保留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80959" y="3406648"/>
            <a:ext cx="2458768" cy="501904"/>
          </a:xfrm>
          <a:prstGeom prst="rect">
            <a:avLst/>
          </a:prstGeom>
          <a:solidFill>
            <a:srgbClr val="FCEEC6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26679" y="3424936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停止微调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3908552"/>
            <a:ext cx="1726369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" y="3926840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EAMC predictor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4737" y="3908552"/>
            <a:ext cx="2877282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30457" y="3926840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历史相似请求预测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62020" y="3908552"/>
            <a:ext cx="2668025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7740" y="3926840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无隔离 A/B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30046" y="3908552"/>
            <a:ext cx="1150913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75766" y="3926840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未知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80959" y="3908552"/>
            <a:ext cx="2458768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26679" y="3926840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先做 LRU 对照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4410456"/>
            <a:ext cx="1726369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" y="4428744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n-gram spec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84737" y="4410456"/>
            <a:ext cx="2877282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30457" y="4428744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少 target step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62020" y="4410456"/>
            <a:ext cx="2668025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7740" y="4428744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TPOT +18.2%；token 分叉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30046" y="4410456"/>
            <a:ext cx="1150913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75766" y="4428744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80959" y="4410456"/>
            <a:ext cx="2458768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26679" y="4428744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先修正确性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4912360"/>
            <a:ext cx="1726369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4088" y="4930648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MTP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84737" y="4912360"/>
            <a:ext cx="2877282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30457" y="4930648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高质量 draft 抵消验证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62020" y="4912360"/>
            <a:ext cx="2668025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07740" y="4930648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83–95% accept；无 A/B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30046" y="4912360"/>
            <a:ext cx="1150913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75766" y="4930648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待验证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80959" y="4912360"/>
            <a:ext cx="2458768" cy="50190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26679" y="4930648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同构 A/B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" y="5414264"/>
            <a:ext cx="1726369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4088" y="5432552"/>
            <a:ext cx="1634929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Gate stream/P0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84737" y="5414264"/>
            <a:ext cx="2877282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30457" y="5432552"/>
            <a:ext cx="2785842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H2D 与 gate 重叠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62020" y="5414264"/>
            <a:ext cx="2668025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07740" y="5432552"/>
            <a:ext cx="2576585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TTFT +10–19%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30046" y="5414264"/>
            <a:ext cx="1150913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75766" y="5432552"/>
            <a:ext cx="1059473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80959" y="5414264"/>
            <a:ext cx="2458768" cy="50190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26679" y="5432552"/>
            <a:ext cx="2367328" cy="465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完整 executor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49808" y="6035040"/>
            <a:ext cx="676656" cy="310896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6384" y="6053327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E8B57"/>
                </a:solidFill>
                <a:latin typeface="Microsoft YaHei"/>
              </a:rPr>
              <a:t>保留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572768" y="6035040"/>
            <a:ext cx="804672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609344" y="6053327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B5EA7"/>
                </a:solidFill>
                <a:latin typeface="Microsoft YaHei"/>
              </a:rPr>
              <a:t>待验证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523744" y="6035040"/>
            <a:ext cx="676656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60320" y="6053327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D1495B"/>
                </a:solidFill>
                <a:latin typeface="Microsoft YaHei"/>
              </a:rPr>
              <a:t>停止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01568" y="6025896"/>
            <a:ext cx="7808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D252C"/>
                </a:solidFill>
                <a:latin typeface="Microsoft YaHei"/>
              </a:rPr>
              <a:t>最清晰的规律：凡是减少 miss/callback 数量的尝试有效；只改变等待位置、但不减少总传输/launch 的尝试无效。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综合所有实验 summary；判断按证据等级而非 branch 名称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7EA6"/>
                </a:solidFill>
                <a:latin typeface="Microsoft YaHei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瓶颈如何在尝试中迁移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91640"/>
            <a:ext cx="1719072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91640"/>
            <a:ext cx="64008" cy="345643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56816"/>
            <a:ext cx="1353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D1495B"/>
                </a:solidFill>
                <a:latin typeface="Microsoft YaHei"/>
              </a:rPr>
              <a:t>基础 offload</a:t>
            </a:r>
          </a:p>
        </p:txBody>
      </p:sp>
      <p:sp>
        <p:nvSpPr>
          <p:cNvPr id="8" name="Oval 7"/>
          <p:cNvSpPr/>
          <p:nvPr/>
        </p:nvSpPr>
        <p:spPr>
          <a:xfrm>
            <a:off x="950976" y="2670048"/>
            <a:ext cx="146304" cy="146304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2578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大量 cold miss</a:t>
            </a:r>
          </a:p>
        </p:txBody>
      </p:sp>
      <p:sp>
        <p:nvSpPr>
          <p:cNvPr id="10" name="Oval 9"/>
          <p:cNvSpPr/>
          <p:nvPr/>
        </p:nvSpPr>
        <p:spPr>
          <a:xfrm>
            <a:off x="950976" y="3328415"/>
            <a:ext cx="146304" cy="146304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236976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callback wall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" y="3986783"/>
            <a:ext cx="146304" cy="146304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895344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SSD + H2D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05456" y="3401568"/>
            <a:ext cx="493776" cy="0"/>
          </a:xfrm>
          <a:prstGeom prst="line">
            <a:avLst/>
          </a:prstGeom>
          <a:ln w="2159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54096" y="1691640"/>
            <a:ext cx="1719072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4096" y="1691640"/>
            <a:ext cx="64008" cy="3456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1956816"/>
            <a:ext cx="1353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</a:rPr>
              <a:t>ub / admission</a:t>
            </a:r>
          </a:p>
        </p:txBody>
      </p:sp>
      <p:sp>
        <p:nvSpPr>
          <p:cNvPr id="18" name="Oval 17"/>
          <p:cNvSpPr/>
          <p:nvPr/>
        </p:nvSpPr>
        <p:spPr>
          <a:xfrm>
            <a:off x="3255264" y="267004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2578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callback 次数↓</a:t>
            </a:r>
          </a:p>
        </p:txBody>
      </p:sp>
      <p:sp>
        <p:nvSpPr>
          <p:cNvPr id="20" name="Oval 19"/>
          <p:cNvSpPr/>
          <p:nvPr/>
        </p:nvSpPr>
        <p:spPr>
          <a:xfrm>
            <a:off x="3255264" y="3328415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3236976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早期 miss↓</a:t>
            </a:r>
          </a:p>
        </p:txBody>
      </p:sp>
      <p:sp>
        <p:nvSpPr>
          <p:cNvPr id="22" name="Oval 21"/>
          <p:cNvSpPr/>
          <p:nvPr/>
        </p:nvSpPr>
        <p:spPr>
          <a:xfrm>
            <a:off x="3255264" y="3986783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3895344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稳态不变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9744" y="3401568"/>
            <a:ext cx="493776" cy="0"/>
          </a:xfrm>
          <a:prstGeom prst="line">
            <a:avLst/>
          </a:prstGeom>
          <a:ln w="2159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58384" y="1691640"/>
            <a:ext cx="1719072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58384" y="1691640"/>
            <a:ext cx="64008" cy="345643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1264" y="1956816"/>
            <a:ext cx="1353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B5EA7"/>
                </a:solidFill>
                <a:latin typeface="Microsoft YaHei"/>
              </a:rPr>
              <a:t>投机</a:t>
            </a:r>
          </a:p>
        </p:txBody>
      </p:sp>
      <p:sp>
        <p:nvSpPr>
          <p:cNvPr id="28" name="Oval 27"/>
          <p:cNvSpPr/>
          <p:nvPr/>
        </p:nvSpPr>
        <p:spPr>
          <a:xfrm>
            <a:off x="5559552" y="2670048"/>
            <a:ext cx="146304" cy="14630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2578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target step↓</a:t>
            </a:r>
          </a:p>
        </p:txBody>
      </p:sp>
      <p:sp>
        <p:nvSpPr>
          <p:cNvPr id="30" name="Oval 29"/>
          <p:cNvSpPr/>
          <p:nvPr/>
        </p:nvSpPr>
        <p:spPr>
          <a:xfrm>
            <a:off x="5559552" y="3328415"/>
            <a:ext cx="146304" cy="14630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7296" y="3236976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candidate I/O↑</a:t>
            </a:r>
          </a:p>
        </p:txBody>
      </p:sp>
      <p:sp>
        <p:nvSpPr>
          <p:cNvPr id="32" name="Oval 31"/>
          <p:cNvSpPr/>
          <p:nvPr/>
        </p:nvSpPr>
        <p:spPr>
          <a:xfrm>
            <a:off x="5559552" y="3986783"/>
            <a:ext cx="146304" cy="14630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3895344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正确性风险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14032" y="3401568"/>
            <a:ext cx="493776" cy="0"/>
          </a:xfrm>
          <a:prstGeom prst="line">
            <a:avLst/>
          </a:prstGeom>
          <a:ln w="2159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62672" y="1691640"/>
            <a:ext cx="1719072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62672" y="1691640"/>
            <a:ext cx="64008" cy="345643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1956816"/>
            <a:ext cx="1353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4B942"/>
                </a:solidFill>
                <a:latin typeface="Microsoft YaHei"/>
              </a:rPr>
              <a:t>gate stream</a:t>
            </a:r>
          </a:p>
        </p:txBody>
      </p:sp>
      <p:sp>
        <p:nvSpPr>
          <p:cNvPr id="38" name="Oval 37"/>
          <p:cNvSpPr/>
          <p:nvPr/>
        </p:nvSpPr>
        <p:spPr>
          <a:xfrm>
            <a:off x="7863840" y="2670048"/>
            <a:ext cx="146304" cy="14630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4" y="2578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host wait↓</a:t>
            </a:r>
          </a:p>
        </p:txBody>
      </p:sp>
      <p:sp>
        <p:nvSpPr>
          <p:cNvPr id="40" name="Oval 39"/>
          <p:cNvSpPr/>
          <p:nvPr/>
        </p:nvSpPr>
        <p:spPr>
          <a:xfrm>
            <a:off x="7863840" y="3328415"/>
            <a:ext cx="146304" cy="14630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3236976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compute wait↑</a:t>
            </a:r>
          </a:p>
        </p:txBody>
      </p:sp>
      <p:sp>
        <p:nvSpPr>
          <p:cNvPr id="42" name="Oval 41"/>
          <p:cNvSpPr/>
          <p:nvPr/>
        </p:nvSpPr>
        <p:spPr>
          <a:xfrm>
            <a:off x="7863840" y="3986783"/>
            <a:ext cx="146304" cy="14630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1584" y="3895344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小 launch↑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18320" y="3401568"/>
            <a:ext cx="493776" cy="0"/>
          </a:xfrm>
          <a:prstGeom prst="line">
            <a:avLst/>
          </a:prstGeom>
          <a:ln w="2159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966960" y="1691640"/>
            <a:ext cx="1719072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1691640"/>
            <a:ext cx="64008" cy="345643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1956816"/>
            <a:ext cx="1353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8B8D"/>
                </a:solidFill>
                <a:latin typeface="Microsoft YaHei"/>
              </a:rPr>
              <a:t>下一目标</a:t>
            </a:r>
          </a:p>
        </p:txBody>
      </p:sp>
      <p:sp>
        <p:nvSpPr>
          <p:cNvPr id="48" name="Oval 47"/>
          <p:cNvSpPr/>
          <p:nvPr/>
        </p:nvSpPr>
        <p:spPr>
          <a:xfrm>
            <a:off x="10168128" y="2670048"/>
            <a:ext cx="146304" cy="14630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05872" y="2578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总 bytes↓</a:t>
            </a:r>
          </a:p>
        </p:txBody>
      </p:sp>
      <p:sp>
        <p:nvSpPr>
          <p:cNvPr id="50" name="Oval 49"/>
          <p:cNvSpPr/>
          <p:nvPr/>
        </p:nvSpPr>
        <p:spPr>
          <a:xfrm>
            <a:off x="10168128" y="3328415"/>
            <a:ext cx="146304" cy="14630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05872" y="3236976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ready-set batched</a:t>
            </a:r>
          </a:p>
        </p:txBody>
      </p:sp>
      <p:sp>
        <p:nvSpPr>
          <p:cNvPr id="52" name="Oval 51"/>
          <p:cNvSpPr/>
          <p:nvPr/>
        </p:nvSpPr>
        <p:spPr>
          <a:xfrm>
            <a:off x="10168128" y="3986783"/>
            <a:ext cx="146304" cy="14630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05872" y="3895344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52C"/>
                </a:solidFill>
                <a:latin typeface="Microsoft YaHei"/>
              </a:rPr>
              <a:t>完整 expert pipeline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8" y="5468112"/>
            <a:ext cx="10936224" cy="566928"/>
          </a:xfrm>
          <a:prstGeom prst="roundRect">
            <a:avLst/>
          </a:prstGeom>
          <a:solidFill>
            <a:srgbClr val="DFEAF2"/>
          </a:solidFill>
          <a:ln w="12700">
            <a:solidFill>
              <a:srgbClr val="3D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808" y="5468112"/>
            <a:ext cx="64008" cy="566928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4128" y="5605272"/>
            <a:ext cx="10314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D252C"/>
                </a:solidFill>
                <a:latin typeface="Microsoft YaHei"/>
              </a:rPr>
              <a:t>性能问题没有被“异步”自动消失：只有减少必做工作，或让足够大的计算块覆盖传输，才会转化为端到端收益。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由 0714→0716→0719/0720→0724 的结果归纳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下一轮建议：先把比较变可靠，再把流水做完整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81328"/>
            <a:ext cx="512064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9961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D1495B"/>
                </a:solidFill>
                <a:latin typeface="Microsoft YaHei"/>
              </a:rPr>
              <a:t>正确性门槛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08176"/>
            <a:ext cx="7790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1D252C"/>
                </a:solidFill>
                <a:latin typeface="Microsoft YaHei"/>
              </a:rPr>
              <a:t>每个优化模式必须与 greedy baseline 做 token-by-token 比较；先定位 0719 在输出约 #101 的分叉。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7552" y="1847088"/>
            <a:ext cx="0" cy="539496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8" y="2395728"/>
            <a:ext cx="512064" cy="310896"/>
          </a:xfrm>
          <a:prstGeom prst="roundRect">
            <a:avLst/>
          </a:prstGeom>
          <a:solidFill>
            <a:srgbClr val="DFEAF2"/>
          </a:solidFill>
          <a:ln w="12700">
            <a:solidFill>
              <a:srgbClr val="DF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1401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D7EA6"/>
                </a:solidFill>
                <a:latin typeface="Microsoft YaHei"/>
              </a:rP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77440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7EA6"/>
                </a:solidFill>
                <a:latin typeface="Microsoft YaHei"/>
              </a:rPr>
              <a:t>统一 A/B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22576"/>
            <a:ext cx="7790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1D252C"/>
                </a:solidFill>
                <a:latin typeface="Microsoft YaHei"/>
              </a:rPr>
              <a:t>同 commit、同 quant、同 prompt、固定 visible GPU 与 cache reset；保存命令、环境、token hash 和显存 baseline。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" y="2761488"/>
            <a:ext cx="0" cy="539496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" y="3310128"/>
            <a:ext cx="512064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2841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91840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B5EA7"/>
                </a:solidFill>
                <a:latin typeface="Microsoft YaHei"/>
              </a:rPr>
              <a:t>MTP 受控实验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36976"/>
            <a:ext cx="7790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1D252C"/>
                </a:solidFill>
                <a:latin typeface="Microsoft YaHei"/>
              </a:rPr>
              <a:t>Q8 MTP on/off 同二进制；报告 target eval tokens、candidate-only bytes、acceptance 与端到端 TPOT。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" y="3675887"/>
            <a:ext cx="0" cy="539497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4224528"/>
            <a:ext cx="512064" cy="310896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24281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8B8D"/>
                </a:solidFill>
                <a:latin typeface="Microsoft YaHei"/>
              </a:rP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8B8D"/>
                </a:solidFill>
                <a:latin typeface="Microsoft YaHei"/>
              </a:rPr>
              <a:t>完整 expert executor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51376"/>
            <a:ext cx="7790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1D252C"/>
                </a:solidFill>
                <a:latin typeface="Microsoft YaHei"/>
              </a:rPr>
              <a:t>以 ready set 批处理 gate/up→activation→down；避免每专家小 kernel；再验证是否真正覆盖 H2D。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7552" y="4590288"/>
            <a:ext cx="0" cy="539496"/>
          </a:xfrm>
          <a:prstGeom prst="line">
            <a:avLst/>
          </a:prstGeom>
          <a:ln w="16510">
            <a:solidFill>
              <a:srgbClr val="DD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8" y="5138928"/>
            <a:ext cx="512064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15721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20640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4B942"/>
                </a:solidFill>
                <a:latin typeface="Microsoft YaHei"/>
              </a:rPr>
              <a:t>减少总数据量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065776"/>
            <a:ext cx="7790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1D252C"/>
                </a:solidFill>
                <a:latin typeface="Microsoft YaHei"/>
              </a:rPr>
              <a:t>评估 host/pinned 热缓存、跨层预取、coalesced read；只有命中率与 bytes 同时改善才保留 predictor。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6053328"/>
            <a:ext cx="10661904" cy="438912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6053328"/>
            <a:ext cx="64008" cy="4389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6144768"/>
            <a:ext cx="10003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1">
                <a:solidFill>
                  <a:srgbClr val="2E8B57"/>
                </a:solidFill>
                <a:latin typeface="Microsoft YaHei"/>
              </a:rPr>
              <a:t>成功标准：correct tokens + lower wall time + lower/controlled bytes；三者缺一不可。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建议由现有瓶颈与证据缺口推导；不包含新的代码实现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6343D"/>
                </a:solidFill>
                <a:latin typeface="Microsoft YaHei"/>
              </a:rPr>
              <a:t>SOURCE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D252C"/>
                </a:solidFill>
                <a:latin typeface="Microsoft YaHei"/>
              </a:rPr>
              <a:t>关键文件与复现入口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566928" cy="36576"/>
          </a:xfrm>
          <a:prstGeom prst="rect">
            <a:avLst/>
          </a:prstGeom>
          <a:solidFill>
            <a:srgbClr val="26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417320" cy="48158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08176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主题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5688" y="1389888"/>
            <a:ext cx="6492240" cy="48158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1408" y="1408176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代码 / 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567928" y="1389888"/>
            <a:ext cx="2971800" cy="481584"/>
          </a:xfrm>
          <a:prstGeom prst="rect">
            <a:avLst/>
          </a:prstGeom>
          <a:solidFill>
            <a:srgbClr val="26343D"/>
          </a:solidFill>
          <a:ln w="762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408176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分支 / 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71472"/>
            <a:ext cx="141732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89760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共享框架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5688" y="1871472"/>
            <a:ext cx="649224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1889760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docs/moe-offload-shared-scratch.md；src/moe-offload/{slot_pool,io,predictor}.*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67928" y="1871472"/>
            <a:ext cx="297180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1889760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0714 @ 539f4cbf4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353056"/>
            <a:ext cx="141732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371344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repack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75688" y="2353056"/>
            <a:ext cx="649224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1408" y="2371344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tools/moe-repack/main.cpp；models/*.moe.gguf.json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67928" y="2353056"/>
            <a:ext cx="297180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2371344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0714 @ 539f4cbf4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834640"/>
            <a:ext cx="141732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852928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准入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2834640"/>
            <a:ext cx="649224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21408" y="2852928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admission.*；phase-a-report.md；early-decode-comparison.csv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67928" y="2834640"/>
            <a:ext cx="297180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2852928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0716 @ 8b4de7c0e / c09907bec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316224"/>
            <a:ext cx="141732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334512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ubatch / 上限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3316224"/>
            <a:ext cx="649224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1408" y="3334512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new-result/**；non-offload-single-gpu/**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67928" y="3316224"/>
            <a:ext cx="297180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3334512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0716 @ 3821d9835 / 4306ebc28 / 5dd375005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797808"/>
            <a:ext cx="141732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816096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n-gram spec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75688" y="3797808"/>
            <a:ext cx="649224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21408" y="3816096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0719-speculative-stage12/**；0720-speculative-stage3/**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67928" y="3797808"/>
            <a:ext cx="297180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3816096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0719 @ 94fdf126b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279392"/>
            <a:ext cx="141732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4297679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MTP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75688" y="4279392"/>
            <a:ext cx="649224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21408" y="4297679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mtp-pp1024-tg1024/**；ggml-cuda/mmq.*；profiler.*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67928" y="4279392"/>
            <a:ext cx="297180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3648" y="4297679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0720 @ 0edf6febc / fde549896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760976"/>
            <a:ext cx="141732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4779264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DRAM stream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75688" y="4760976"/>
            <a:ext cx="649224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21408" y="4779264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prefill-expert-stream-phase1/RESULTS.md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67928" y="4760976"/>
            <a:ext cx="2971800" cy="481584"/>
          </a:xfrm>
          <a:prstGeom prst="rect">
            <a:avLst/>
          </a:prstGeom>
          <a:solidFill>
            <a:srgbClr val="FFFFFF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13648" y="4779264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0724 @ 2dcac38ea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5242560"/>
            <a:ext cx="141732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5260848"/>
            <a:ext cx="132588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252C"/>
                </a:solidFill>
                <a:latin typeface="Microsoft YaHei"/>
              </a:rPr>
              <a:t>P0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5242560"/>
            <a:ext cx="649224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21408" y="5260848"/>
            <a:ext cx="640080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prefill-expert-stream-p0/RESULTS.md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67928" y="5242560"/>
            <a:ext cx="2971800" cy="481584"/>
          </a:xfrm>
          <a:prstGeom prst="rect">
            <a:avLst/>
          </a:prstGeom>
          <a:solidFill>
            <a:srgbClr val="F0F3F2"/>
          </a:solidFill>
          <a:ln w="7620">
            <a:solidFill>
              <a:srgbClr val="DD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13648" y="5260848"/>
            <a:ext cx="2880360" cy="44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D252C"/>
                </a:solidFill>
                <a:latin typeface="Microsoft YaHei"/>
              </a:rPr>
              <a:t>0724 @ a03c4fa82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4360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8B8D"/>
                </a:solidFill>
                <a:latin typeface="Microsoft YaHei"/>
              </a:rPr>
              <a:t>典型构建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72768" y="5897880"/>
            <a:ext cx="9555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1D252C"/>
                </a:solidFill>
                <a:latin typeface="Aptos Mono"/>
              </a:rPr>
              <a:t>cmake -S . -B build-moe -DGGML_CUDA=ON -DLLAMA_MOE_OFFLOAD=ON  ·  cmake --build build-moe --target llama-moe-bench llama-moe-repack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PPT 生成脚本：ppt/build_offload_review.py · 数据截至 2026-07-27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B942"/>
                </a:solidFill>
                <a:latin typeface="Microsoft YaHei"/>
              </a:rPr>
              <a:t>最终判断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61872"/>
            <a:ext cx="996696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把 offload 做快的关键，不是更多异步，</a:t>
            </a:r>
            <a:br/>
            <a:r>
              <a:t>而是更少的数据和更大的可覆盖计算块。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035808"/>
            <a:ext cx="10570464" cy="2743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3529584"/>
            <a:ext cx="749808" cy="310896"/>
          </a:xfrm>
          <a:prstGeom prst="roundRect">
            <a:avLst/>
          </a:prstGeom>
          <a:solidFill>
            <a:srgbClr val="DDEEE4"/>
          </a:solidFill>
          <a:ln w="12700"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547872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</a:rPr>
              <a:t>保留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547872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shared scratch / ub1024 / frequency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3529584"/>
            <a:ext cx="749808" cy="310896"/>
          </a:xfrm>
          <a:prstGeom prst="roundRect">
            <a:avLst/>
          </a:prstGeom>
          <a:solidFill>
            <a:srgbClr val="EAE4F2"/>
          </a:solidFill>
          <a:ln w="12700">
            <a:solidFill>
              <a:srgbClr val="E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3547872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B5EA7"/>
                </a:solidFill>
                <a:latin typeface="Microsoft YaHei"/>
              </a:rPr>
              <a:t>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3547872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MTP on/off controlled A/B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4626864"/>
            <a:ext cx="749808" cy="310896"/>
          </a:xfrm>
          <a:prstGeom prst="roundRect">
            <a:avLst/>
          </a:prstGeom>
          <a:solidFill>
            <a:srgbClr val="F6DEE2"/>
          </a:solidFill>
          <a:ln w="12700">
            <a:solidFill>
              <a:srgbClr val="F6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645151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Microsoft YaHei"/>
              </a:rPr>
              <a:t>停止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645151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n-gram 当前实现 / gate-only streaming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4626864"/>
            <a:ext cx="749808" cy="310896"/>
          </a:xfrm>
          <a:prstGeom prst="roundRect">
            <a:avLst/>
          </a:prstGeom>
          <a:solidFill>
            <a:srgbClr val="FCEEC6"/>
          </a:solidFill>
          <a:ln w="12700">
            <a:solidFill>
              <a:srgbClr val="FCE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645151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B942"/>
                </a:solidFill>
                <a:latin typeface="Microsoft YaHei"/>
              </a:rP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4645151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correctness gate + full expert 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16305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AAB7BD"/>
                </a:solidFill>
                <a:latin typeface="Microsoft YaHei"/>
              </a:rPr>
              <a:t>llama.cpp.clean · MoE offload experiment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6539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8737D"/>
                </a:solidFill>
                <a:latin typeface="Microsoft YaHei"/>
              </a:rPr>
              <a:t>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56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8737D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llama.cpp MoE Offload 实验实现与分支尝试复盘</dc:title>
  <dc:subject>共享 scratch、动态专家缓存、准入策略、投机解码、MTP 与 DRAM 流式传输</dc:subject>
  <dc:creator>Codex（基于仓库代码与实验产物整理）</dc:creator>
  <cp:keywords>llama.cpp, MoE, offload, ubatch, EAMC, speculative decoding, MTP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